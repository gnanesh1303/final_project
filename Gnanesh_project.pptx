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507.20410" TargetMode="External"/><Relationship Id="rId2" Type="http://schemas.openxmlformats.org/officeDocument/2006/relationships/hyperlink" Target="https://arxiv.org/abs/2312.11942" TargetMode="External"/><Relationship Id="rId1" Type="http://schemas.openxmlformats.org/officeDocument/2006/relationships/hyperlink" Target="https://www.sciencedirect.com/science/article/abs/pii/S0957417424009679" TargetMode="External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507.20410" TargetMode="External"/><Relationship Id="rId2" Type="http://schemas.openxmlformats.org/officeDocument/2006/relationships/hyperlink" Target="https://arxiv.org/abs/2312.11942" TargetMode="External"/><Relationship Id="rId1" Type="http://schemas.openxmlformats.org/officeDocument/2006/relationships/hyperlink" Target="https://www.sciencedirect.com/science/article/abs/pii/S0957417424009679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1E321FE-1C5D-41F1-A48D-1BF51B47C586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3B290287-E85D-4C1D-AEDE-208C2C96AE80}">
      <dgm:prSet/>
      <dgm:spPr/>
      <dgm:t>
        <a:bodyPr/>
        <a:lstStyle/>
        <a:p>
          <a:r>
            <a:rPr lang="en-IN" b="1"/>
            <a:t>Goal:</a:t>
          </a:r>
          <a:endParaRPr lang="en-US"/>
        </a:p>
      </dgm:t>
    </dgm:pt>
    <dgm:pt modelId="{2087BCC2-1FED-41A5-81B9-A459631EC417}" type="parTrans" cxnId="{0328BC43-F56F-4627-A164-9C4248AD66D7}">
      <dgm:prSet/>
      <dgm:spPr/>
      <dgm:t>
        <a:bodyPr/>
        <a:lstStyle/>
        <a:p>
          <a:endParaRPr lang="en-US"/>
        </a:p>
      </dgm:t>
    </dgm:pt>
    <dgm:pt modelId="{27C9DDE1-C90C-41DD-AD97-4B3D38065A26}" type="sibTrans" cxnId="{0328BC43-F56F-4627-A164-9C4248AD66D7}">
      <dgm:prSet/>
      <dgm:spPr/>
      <dgm:t>
        <a:bodyPr/>
        <a:lstStyle/>
        <a:p>
          <a:endParaRPr lang="en-US"/>
        </a:p>
      </dgm:t>
    </dgm:pt>
    <dgm:pt modelId="{517337EF-ED52-44CD-9D4F-A63851481CB1}">
      <dgm:prSet/>
      <dgm:spPr/>
      <dgm:t>
        <a:bodyPr/>
        <a:lstStyle/>
        <a:p>
          <a:r>
            <a:rPr lang="en-IN"/>
            <a:t>Analyze global Data Science salary trends (2020–2025).</a:t>
          </a:r>
          <a:endParaRPr lang="en-US"/>
        </a:p>
      </dgm:t>
    </dgm:pt>
    <dgm:pt modelId="{954F69D8-7BF7-484A-8C42-AD15247826BA}" type="parTrans" cxnId="{19D9E717-F40A-4F84-AC5F-11913E8800FF}">
      <dgm:prSet/>
      <dgm:spPr/>
      <dgm:t>
        <a:bodyPr/>
        <a:lstStyle/>
        <a:p>
          <a:endParaRPr lang="en-US"/>
        </a:p>
      </dgm:t>
    </dgm:pt>
    <dgm:pt modelId="{EFF4EAC0-F292-4823-B1B6-409B2722DB69}" type="sibTrans" cxnId="{19D9E717-F40A-4F84-AC5F-11913E8800FF}">
      <dgm:prSet/>
      <dgm:spPr/>
      <dgm:t>
        <a:bodyPr/>
        <a:lstStyle/>
        <a:p>
          <a:endParaRPr lang="en-US"/>
        </a:p>
      </dgm:t>
    </dgm:pt>
    <dgm:pt modelId="{4A86B0A1-85CD-43FC-8DBE-C3E9BF3C369E}">
      <dgm:prSet/>
      <dgm:spPr/>
      <dgm:t>
        <a:bodyPr/>
        <a:lstStyle/>
        <a:p>
          <a:r>
            <a:rPr lang="en-IN"/>
            <a:t>Compare </a:t>
          </a:r>
          <a:r>
            <a:rPr lang="en-IN" b="1"/>
            <a:t>Regularized Linear Models (Ridge, Lasso, ElasticNet)</a:t>
          </a:r>
          <a:r>
            <a:rPr lang="en-IN"/>
            <a:t> vs </a:t>
          </a:r>
          <a:r>
            <a:rPr lang="en-IN" b="1"/>
            <a:t>Non-Linear Models (Random Forest, XGBoost)</a:t>
          </a:r>
          <a:r>
            <a:rPr lang="en-IN"/>
            <a:t>.</a:t>
          </a:r>
          <a:endParaRPr lang="en-US"/>
        </a:p>
      </dgm:t>
    </dgm:pt>
    <dgm:pt modelId="{191DCBC3-20F1-4C86-84AD-037F3D91632C}" type="parTrans" cxnId="{F450D843-6973-4F51-A5F9-0FCC66E11FE1}">
      <dgm:prSet/>
      <dgm:spPr/>
      <dgm:t>
        <a:bodyPr/>
        <a:lstStyle/>
        <a:p>
          <a:endParaRPr lang="en-US"/>
        </a:p>
      </dgm:t>
    </dgm:pt>
    <dgm:pt modelId="{7E8E7ACE-A873-48CE-9550-B796CABCC387}" type="sibTrans" cxnId="{F450D843-6973-4F51-A5F9-0FCC66E11FE1}">
      <dgm:prSet/>
      <dgm:spPr/>
      <dgm:t>
        <a:bodyPr/>
        <a:lstStyle/>
        <a:p>
          <a:endParaRPr lang="en-US"/>
        </a:p>
      </dgm:t>
    </dgm:pt>
    <dgm:pt modelId="{32FEF99A-3C22-4AC2-9D35-35D30B938677}">
      <dgm:prSet/>
      <dgm:spPr/>
      <dgm:t>
        <a:bodyPr/>
        <a:lstStyle/>
        <a:p>
          <a:r>
            <a:rPr lang="en-IN"/>
            <a:t>Identify strongest </a:t>
          </a:r>
          <a:r>
            <a:rPr lang="en-IN" b="1"/>
            <a:t>salary-driving features</a:t>
          </a:r>
          <a:r>
            <a:rPr lang="en-IN"/>
            <a:t> (seniority, work mode, location, etc.).</a:t>
          </a:r>
          <a:endParaRPr lang="en-US"/>
        </a:p>
      </dgm:t>
    </dgm:pt>
    <dgm:pt modelId="{B27161C8-58DC-4C0B-859F-EB75392CC91C}" type="parTrans" cxnId="{88D62259-88E3-4CED-8E9E-99C6708C0454}">
      <dgm:prSet/>
      <dgm:spPr/>
      <dgm:t>
        <a:bodyPr/>
        <a:lstStyle/>
        <a:p>
          <a:endParaRPr lang="en-US"/>
        </a:p>
      </dgm:t>
    </dgm:pt>
    <dgm:pt modelId="{6B499925-DC6A-4FC0-9522-B097423DFEE2}" type="sibTrans" cxnId="{88D62259-88E3-4CED-8E9E-99C6708C0454}">
      <dgm:prSet/>
      <dgm:spPr/>
      <dgm:t>
        <a:bodyPr/>
        <a:lstStyle/>
        <a:p>
          <a:endParaRPr lang="en-US"/>
        </a:p>
      </dgm:t>
    </dgm:pt>
    <dgm:pt modelId="{2D3DB85B-2F26-45C5-9D4B-DDF870D2B0C2}" type="pres">
      <dgm:prSet presAssocID="{81E321FE-1C5D-41F1-A48D-1BF51B47C586}" presName="root" presStyleCnt="0">
        <dgm:presLayoutVars>
          <dgm:dir/>
          <dgm:resizeHandles val="exact"/>
        </dgm:presLayoutVars>
      </dgm:prSet>
      <dgm:spPr/>
    </dgm:pt>
    <dgm:pt modelId="{ABEFB996-C139-4362-9874-2F674B965A3E}" type="pres">
      <dgm:prSet presAssocID="{3B290287-E85D-4C1D-AEDE-208C2C96AE80}" presName="compNode" presStyleCnt="0"/>
      <dgm:spPr/>
    </dgm:pt>
    <dgm:pt modelId="{B7BAB8D6-337B-4B36-94C4-36971D39BDF9}" type="pres">
      <dgm:prSet presAssocID="{3B290287-E85D-4C1D-AEDE-208C2C96AE8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53FBF296-E49F-4632-BC06-9EACC67142F3}" type="pres">
      <dgm:prSet presAssocID="{3B290287-E85D-4C1D-AEDE-208C2C96AE80}" presName="spaceRect" presStyleCnt="0"/>
      <dgm:spPr/>
    </dgm:pt>
    <dgm:pt modelId="{EDE0E2D3-E02E-46F6-97FA-C68A41981B58}" type="pres">
      <dgm:prSet presAssocID="{3B290287-E85D-4C1D-AEDE-208C2C96AE80}" presName="textRect" presStyleLbl="revTx" presStyleIdx="0" presStyleCnt="4">
        <dgm:presLayoutVars>
          <dgm:chMax val="1"/>
          <dgm:chPref val="1"/>
        </dgm:presLayoutVars>
      </dgm:prSet>
      <dgm:spPr/>
    </dgm:pt>
    <dgm:pt modelId="{6B922B63-9BBC-409A-92C4-14035E9A28F9}" type="pres">
      <dgm:prSet presAssocID="{27C9DDE1-C90C-41DD-AD97-4B3D38065A26}" presName="sibTrans" presStyleCnt="0"/>
      <dgm:spPr/>
    </dgm:pt>
    <dgm:pt modelId="{0C8E3DDC-A26F-4493-8BE7-066A7E116E15}" type="pres">
      <dgm:prSet presAssocID="{517337EF-ED52-44CD-9D4F-A63851481CB1}" presName="compNode" presStyleCnt="0"/>
      <dgm:spPr/>
    </dgm:pt>
    <dgm:pt modelId="{44627284-5563-4DD7-A68D-0E5CA6EA7D46}" type="pres">
      <dgm:prSet presAssocID="{517337EF-ED52-44CD-9D4F-A63851481CB1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tom"/>
        </a:ext>
      </dgm:extLst>
    </dgm:pt>
    <dgm:pt modelId="{C4B495DA-0AF2-48D5-BAB5-4FEBBBA988C4}" type="pres">
      <dgm:prSet presAssocID="{517337EF-ED52-44CD-9D4F-A63851481CB1}" presName="spaceRect" presStyleCnt="0"/>
      <dgm:spPr/>
    </dgm:pt>
    <dgm:pt modelId="{7E1EEEA3-8D9E-4489-B856-F349E7DE959A}" type="pres">
      <dgm:prSet presAssocID="{517337EF-ED52-44CD-9D4F-A63851481CB1}" presName="textRect" presStyleLbl="revTx" presStyleIdx="1" presStyleCnt="4">
        <dgm:presLayoutVars>
          <dgm:chMax val="1"/>
          <dgm:chPref val="1"/>
        </dgm:presLayoutVars>
      </dgm:prSet>
      <dgm:spPr/>
    </dgm:pt>
    <dgm:pt modelId="{4790B845-2B34-4030-A01A-20050D5CD77A}" type="pres">
      <dgm:prSet presAssocID="{EFF4EAC0-F292-4823-B1B6-409B2722DB69}" presName="sibTrans" presStyleCnt="0"/>
      <dgm:spPr/>
    </dgm:pt>
    <dgm:pt modelId="{BA694CAE-B36F-4506-8E7D-72D9F470C8E5}" type="pres">
      <dgm:prSet presAssocID="{4A86B0A1-85CD-43FC-8DBE-C3E9BF3C369E}" presName="compNode" presStyleCnt="0"/>
      <dgm:spPr/>
    </dgm:pt>
    <dgm:pt modelId="{F770F13C-0EB5-4478-A023-AA11C1A430B6}" type="pres">
      <dgm:prSet presAssocID="{4A86B0A1-85CD-43FC-8DBE-C3E9BF3C369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eterinarian"/>
        </a:ext>
      </dgm:extLst>
    </dgm:pt>
    <dgm:pt modelId="{FAB88966-0384-4C02-97F1-C0FE1603B74F}" type="pres">
      <dgm:prSet presAssocID="{4A86B0A1-85CD-43FC-8DBE-C3E9BF3C369E}" presName="spaceRect" presStyleCnt="0"/>
      <dgm:spPr/>
    </dgm:pt>
    <dgm:pt modelId="{2FF2DFB0-3002-4319-99E9-24217991FB2C}" type="pres">
      <dgm:prSet presAssocID="{4A86B0A1-85CD-43FC-8DBE-C3E9BF3C369E}" presName="textRect" presStyleLbl="revTx" presStyleIdx="2" presStyleCnt="4">
        <dgm:presLayoutVars>
          <dgm:chMax val="1"/>
          <dgm:chPref val="1"/>
        </dgm:presLayoutVars>
      </dgm:prSet>
      <dgm:spPr/>
    </dgm:pt>
    <dgm:pt modelId="{874D57F3-EEB3-4FC9-99FF-8CC870C87B4F}" type="pres">
      <dgm:prSet presAssocID="{7E8E7ACE-A873-48CE-9550-B796CABCC387}" presName="sibTrans" presStyleCnt="0"/>
      <dgm:spPr/>
    </dgm:pt>
    <dgm:pt modelId="{9D05142F-8153-4C4B-B7B5-778150CB7260}" type="pres">
      <dgm:prSet presAssocID="{32FEF99A-3C22-4AC2-9D35-35D30B938677}" presName="compNode" presStyleCnt="0"/>
      <dgm:spPr/>
    </dgm:pt>
    <dgm:pt modelId="{D268BA25-8F48-493E-BD18-0C02A3F4EA6D}" type="pres">
      <dgm:prSet presAssocID="{32FEF99A-3C22-4AC2-9D35-35D30B93867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ployee Badge"/>
        </a:ext>
      </dgm:extLst>
    </dgm:pt>
    <dgm:pt modelId="{32A848C2-4A60-492A-9FBF-DBF7207395FA}" type="pres">
      <dgm:prSet presAssocID="{32FEF99A-3C22-4AC2-9D35-35D30B938677}" presName="spaceRect" presStyleCnt="0"/>
      <dgm:spPr/>
    </dgm:pt>
    <dgm:pt modelId="{9FCBB6EA-EA1D-4FEF-BE00-7A923FB525B7}" type="pres">
      <dgm:prSet presAssocID="{32FEF99A-3C22-4AC2-9D35-35D30B938677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19D9E717-F40A-4F84-AC5F-11913E8800FF}" srcId="{81E321FE-1C5D-41F1-A48D-1BF51B47C586}" destId="{517337EF-ED52-44CD-9D4F-A63851481CB1}" srcOrd="1" destOrd="0" parTransId="{954F69D8-7BF7-484A-8C42-AD15247826BA}" sibTransId="{EFF4EAC0-F292-4823-B1B6-409B2722DB69}"/>
    <dgm:cxn modelId="{F8E7DC22-7953-49D3-B779-6687A0179459}" type="presOf" srcId="{517337EF-ED52-44CD-9D4F-A63851481CB1}" destId="{7E1EEEA3-8D9E-4489-B856-F349E7DE959A}" srcOrd="0" destOrd="0" presId="urn:microsoft.com/office/officeart/2018/2/layout/IconLabelList"/>
    <dgm:cxn modelId="{0328BC43-F56F-4627-A164-9C4248AD66D7}" srcId="{81E321FE-1C5D-41F1-A48D-1BF51B47C586}" destId="{3B290287-E85D-4C1D-AEDE-208C2C96AE80}" srcOrd="0" destOrd="0" parTransId="{2087BCC2-1FED-41A5-81B9-A459631EC417}" sibTransId="{27C9DDE1-C90C-41DD-AD97-4B3D38065A26}"/>
    <dgm:cxn modelId="{F450D843-6973-4F51-A5F9-0FCC66E11FE1}" srcId="{81E321FE-1C5D-41F1-A48D-1BF51B47C586}" destId="{4A86B0A1-85CD-43FC-8DBE-C3E9BF3C369E}" srcOrd="2" destOrd="0" parTransId="{191DCBC3-20F1-4C86-84AD-037F3D91632C}" sibTransId="{7E8E7ACE-A873-48CE-9550-B796CABCC387}"/>
    <dgm:cxn modelId="{88D62259-88E3-4CED-8E9E-99C6708C0454}" srcId="{81E321FE-1C5D-41F1-A48D-1BF51B47C586}" destId="{32FEF99A-3C22-4AC2-9D35-35D30B938677}" srcOrd="3" destOrd="0" parTransId="{B27161C8-58DC-4C0B-859F-EB75392CC91C}" sibTransId="{6B499925-DC6A-4FC0-9522-B097423DFEE2}"/>
    <dgm:cxn modelId="{23921C96-8403-470A-B5C3-C7AA2B66A445}" type="presOf" srcId="{4A86B0A1-85CD-43FC-8DBE-C3E9BF3C369E}" destId="{2FF2DFB0-3002-4319-99E9-24217991FB2C}" srcOrd="0" destOrd="0" presId="urn:microsoft.com/office/officeart/2018/2/layout/IconLabelList"/>
    <dgm:cxn modelId="{4D6FB39D-5680-41FB-99C2-26EB61489CB9}" type="presOf" srcId="{3B290287-E85D-4C1D-AEDE-208C2C96AE80}" destId="{EDE0E2D3-E02E-46F6-97FA-C68A41981B58}" srcOrd="0" destOrd="0" presId="urn:microsoft.com/office/officeart/2018/2/layout/IconLabelList"/>
    <dgm:cxn modelId="{ACE741C1-0BA0-476C-8B45-17BDF5598AF4}" type="presOf" srcId="{32FEF99A-3C22-4AC2-9D35-35D30B938677}" destId="{9FCBB6EA-EA1D-4FEF-BE00-7A923FB525B7}" srcOrd="0" destOrd="0" presId="urn:microsoft.com/office/officeart/2018/2/layout/IconLabelList"/>
    <dgm:cxn modelId="{C3F2BEEE-4187-44F6-AFE1-59A469EDA9BF}" type="presOf" srcId="{81E321FE-1C5D-41F1-A48D-1BF51B47C586}" destId="{2D3DB85B-2F26-45C5-9D4B-DDF870D2B0C2}" srcOrd="0" destOrd="0" presId="urn:microsoft.com/office/officeart/2018/2/layout/IconLabelList"/>
    <dgm:cxn modelId="{D51C9BAA-7CE7-4412-A177-C5ADBC9B1701}" type="presParOf" srcId="{2D3DB85B-2F26-45C5-9D4B-DDF870D2B0C2}" destId="{ABEFB996-C139-4362-9874-2F674B965A3E}" srcOrd="0" destOrd="0" presId="urn:microsoft.com/office/officeart/2018/2/layout/IconLabelList"/>
    <dgm:cxn modelId="{775B4F7D-BABE-417F-961A-357A79A68E00}" type="presParOf" srcId="{ABEFB996-C139-4362-9874-2F674B965A3E}" destId="{B7BAB8D6-337B-4B36-94C4-36971D39BDF9}" srcOrd="0" destOrd="0" presId="urn:microsoft.com/office/officeart/2018/2/layout/IconLabelList"/>
    <dgm:cxn modelId="{4269A9FC-F198-4E95-822A-A88E241D6A4B}" type="presParOf" srcId="{ABEFB996-C139-4362-9874-2F674B965A3E}" destId="{53FBF296-E49F-4632-BC06-9EACC67142F3}" srcOrd="1" destOrd="0" presId="urn:microsoft.com/office/officeart/2018/2/layout/IconLabelList"/>
    <dgm:cxn modelId="{86421D6D-ECE9-4539-A41B-4F8F57863386}" type="presParOf" srcId="{ABEFB996-C139-4362-9874-2F674B965A3E}" destId="{EDE0E2D3-E02E-46F6-97FA-C68A41981B58}" srcOrd="2" destOrd="0" presId="urn:microsoft.com/office/officeart/2018/2/layout/IconLabelList"/>
    <dgm:cxn modelId="{1A9769AF-07D9-4661-856F-CA691ADC89C3}" type="presParOf" srcId="{2D3DB85B-2F26-45C5-9D4B-DDF870D2B0C2}" destId="{6B922B63-9BBC-409A-92C4-14035E9A28F9}" srcOrd="1" destOrd="0" presId="urn:microsoft.com/office/officeart/2018/2/layout/IconLabelList"/>
    <dgm:cxn modelId="{0D7AAD3E-5A0E-4908-9A95-A9B66C87ABF6}" type="presParOf" srcId="{2D3DB85B-2F26-45C5-9D4B-DDF870D2B0C2}" destId="{0C8E3DDC-A26F-4493-8BE7-066A7E116E15}" srcOrd="2" destOrd="0" presId="urn:microsoft.com/office/officeart/2018/2/layout/IconLabelList"/>
    <dgm:cxn modelId="{3EC03E0D-E9F3-4B11-AE8C-4AB2485F2886}" type="presParOf" srcId="{0C8E3DDC-A26F-4493-8BE7-066A7E116E15}" destId="{44627284-5563-4DD7-A68D-0E5CA6EA7D46}" srcOrd="0" destOrd="0" presId="urn:microsoft.com/office/officeart/2018/2/layout/IconLabelList"/>
    <dgm:cxn modelId="{9008A1AC-998E-48FD-8C87-8DB2D4EC47C1}" type="presParOf" srcId="{0C8E3DDC-A26F-4493-8BE7-066A7E116E15}" destId="{C4B495DA-0AF2-48D5-BAB5-4FEBBBA988C4}" srcOrd="1" destOrd="0" presId="urn:microsoft.com/office/officeart/2018/2/layout/IconLabelList"/>
    <dgm:cxn modelId="{8A7D787E-C995-42F5-A0D3-8C1177BF54F8}" type="presParOf" srcId="{0C8E3DDC-A26F-4493-8BE7-066A7E116E15}" destId="{7E1EEEA3-8D9E-4489-B856-F349E7DE959A}" srcOrd="2" destOrd="0" presId="urn:microsoft.com/office/officeart/2018/2/layout/IconLabelList"/>
    <dgm:cxn modelId="{38403BB9-5120-4335-B44B-ABF0CE1A2608}" type="presParOf" srcId="{2D3DB85B-2F26-45C5-9D4B-DDF870D2B0C2}" destId="{4790B845-2B34-4030-A01A-20050D5CD77A}" srcOrd="3" destOrd="0" presId="urn:microsoft.com/office/officeart/2018/2/layout/IconLabelList"/>
    <dgm:cxn modelId="{94407273-3EA3-48DE-8FBD-BC6DD028A5E7}" type="presParOf" srcId="{2D3DB85B-2F26-45C5-9D4B-DDF870D2B0C2}" destId="{BA694CAE-B36F-4506-8E7D-72D9F470C8E5}" srcOrd="4" destOrd="0" presId="urn:microsoft.com/office/officeart/2018/2/layout/IconLabelList"/>
    <dgm:cxn modelId="{077A5F50-89C7-4C64-B09F-40A5EBDE002B}" type="presParOf" srcId="{BA694CAE-B36F-4506-8E7D-72D9F470C8E5}" destId="{F770F13C-0EB5-4478-A023-AA11C1A430B6}" srcOrd="0" destOrd="0" presId="urn:microsoft.com/office/officeart/2018/2/layout/IconLabelList"/>
    <dgm:cxn modelId="{C2C7FB02-A6DC-48C1-86F0-F9E73B9727D8}" type="presParOf" srcId="{BA694CAE-B36F-4506-8E7D-72D9F470C8E5}" destId="{FAB88966-0384-4C02-97F1-C0FE1603B74F}" srcOrd="1" destOrd="0" presId="urn:microsoft.com/office/officeart/2018/2/layout/IconLabelList"/>
    <dgm:cxn modelId="{B5E0B537-F4EA-4ABD-9AE3-A01323E96A39}" type="presParOf" srcId="{BA694CAE-B36F-4506-8E7D-72D9F470C8E5}" destId="{2FF2DFB0-3002-4319-99E9-24217991FB2C}" srcOrd="2" destOrd="0" presId="urn:microsoft.com/office/officeart/2018/2/layout/IconLabelList"/>
    <dgm:cxn modelId="{408DCA1E-EB79-4ACB-B57F-B1E8663FD144}" type="presParOf" srcId="{2D3DB85B-2F26-45C5-9D4B-DDF870D2B0C2}" destId="{874D57F3-EEB3-4FC9-99FF-8CC870C87B4F}" srcOrd="5" destOrd="0" presId="urn:microsoft.com/office/officeart/2018/2/layout/IconLabelList"/>
    <dgm:cxn modelId="{3BD9BFF5-678C-4441-97D4-CB1AD1F0CA62}" type="presParOf" srcId="{2D3DB85B-2F26-45C5-9D4B-DDF870D2B0C2}" destId="{9D05142F-8153-4C4B-B7B5-778150CB7260}" srcOrd="6" destOrd="0" presId="urn:microsoft.com/office/officeart/2018/2/layout/IconLabelList"/>
    <dgm:cxn modelId="{C3E8687F-EBBE-4619-A6EF-7D66922644EF}" type="presParOf" srcId="{9D05142F-8153-4C4B-B7B5-778150CB7260}" destId="{D268BA25-8F48-493E-BD18-0C02A3F4EA6D}" srcOrd="0" destOrd="0" presId="urn:microsoft.com/office/officeart/2018/2/layout/IconLabelList"/>
    <dgm:cxn modelId="{939BCBFF-CB1C-4CAB-BACB-AA81B377D5D4}" type="presParOf" srcId="{9D05142F-8153-4C4B-B7B5-778150CB7260}" destId="{32A848C2-4A60-492A-9FBF-DBF7207395FA}" srcOrd="1" destOrd="0" presId="urn:microsoft.com/office/officeart/2018/2/layout/IconLabelList"/>
    <dgm:cxn modelId="{1CAFDA75-66F1-40C2-9DCB-0BFE8FD95899}" type="presParOf" srcId="{9D05142F-8153-4C4B-B7B5-778150CB7260}" destId="{9FCBB6EA-EA1D-4FEF-BE00-7A923FB525B7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A0A43E4-15A1-4BC8-B627-E91907AEAB9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F499EE18-AC05-4974-BCFC-4E84F1345E05}">
      <dgm:prSet/>
      <dgm:spPr/>
      <dgm:t>
        <a:bodyPr/>
        <a:lstStyle/>
        <a:p>
          <a:r>
            <a:rPr lang="en-US" b="0" i="0" baseline="0"/>
            <a:t>Remote ratio rose sharply after 2020, stabilizing after 2023.</a:t>
          </a:r>
          <a:endParaRPr lang="en-US"/>
        </a:p>
      </dgm:t>
    </dgm:pt>
    <dgm:pt modelId="{EDEFB10E-13B2-46C3-8964-C14CEF6331FD}" type="parTrans" cxnId="{AAFA8C40-6121-438F-AF34-A97A71EDCC86}">
      <dgm:prSet/>
      <dgm:spPr/>
      <dgm:t>
        <a:bodyPr/>
        <a:lstStyle/>
        <a:p>
          <a:endParaRPr lang="en-US"/>
        </a:p>
      </dgm:t>
    </dgm:pt>
    <dgm:pt modelId="{A3D7788C-559D-46A9-9ACB-9BBA5DA3C1FF}" type="sibTrans" cxnId="{AAFA8C40-6121-438F-AF34-A97A71EDCC86}">
      <dgm:prSet/>
      <dgm:spPr/>
      <dgm:t>
        <a:bodyPr/>
        <a:lstStyle/>
        <a:p>
          <a:endParaRPr lang="en-US"/>
        </a:p>
      </dgm:t>
    </dgm:pt>
    <dgm:pt modelId="{8A4654E6-DC2D-4F74-AB09-AD8D5CFCEA61}">
      <dgm:prSet/>
      <dgm:spPr/>
      <dgm:t>
        <a:bodyPr/>
        <a:lstStyle/>
        <a:p>
          <a:r>
            <a:rPr lang="en-US" b="0" i="0" baseline="0"/>
            <a:t>Salary gaps exist across regions — U.S. highest average.</a:t>
          </a:r>
          <a:endParaRPr lang="en-US"/>
        </a:p>
      </dgm:t>
    </dgm:pt>
    <dgm:pt modelId="{F394420A-0DE0-4593-A6C6-65D7C86EC710}" type="parTrans" cxnId="{B4897F9E-EDAE-43DC-8181-0903F0DBCE44}">
      <dgm:prSet/>
      <dgm:spPr/>
      <dgm:t>
        <a:bodyPr/>
        <a:lstStyle/>
        <a:p>
          <a:endParaRPr lang="en-US"/>
        </a:p>
      </dgm:t>
    </dgm:pt>
    <dgm:pt modelId="{76DEF703-8AE5-449A-A0C6-F6E88F40ABE3}" type="sibTrans" cxnId="{B4897F9E-EDAE-43DC-8181-0903F0DBCE44}">
      <dgm:prSet/>
      <dgm:spPr/>
      <dgm:t>
        <a:bodyPr/>
        <a:lstStyle/>
        <a:p>
          <a:endParaRPr lang="en-US"/>
        </a:p>
      </dgm:t>
    </dgm:pt>
    <dgm:pt modelId="{CD399ED3-C54C-4FD0-AB05-4D95A31475D0}">
      <dgm:prSet/>
      <dgm:spPr/>
      <dgm:t>
        <a:bodyPr/>
        <a:lstStyle/>
        <a:p>
          <a:r>
            <a:rPr lang="en-US" b="0" i="0" baseline="0"/>
            <a:t>Correlation heatmap shows strong link between </a:t>
          </a:r>
          <a:r>
            <a:rPr lang="en-US" b="1" i="0" baseline="0"/>
            <a:t>experience level</a:t>
          </a:r>
          <a:r>
            <a:rPr lang="en-US" b="0" i="0" baseline="0"/>
            <a:t>, </a:t>
          </a:r>
          <a:r>
            <a:rPr lang="en-US" b="1" i="0" baseline="0"/>
            <a:t>company size</a:t>
          </a:r>
          <a:r>
            <a:rPr lang="en-US" b="0" i="0" baseline="0"/>
            <a:t>, and </a:t>
          </a:r>
          <a:r>
            <a:rPr lang="en-US" b="1" i="0" baseline="0"/>
            <a:t>salary</a:t>
          </a:r>
          <a:r>
            <a:rPr lang="en-US" b="0" i="0" baseline="0"/>
            <a:t>.</a:t>
          </a:r>
          <a:endParaRPr lang="en-US"/>
        </a:p>
      </dgm:t>
    </dgm:pt>
    <dgm:pt modelId="{9D5C7EDB-D2F9-44D3-B538-31DD9431670A}" type="parTrans" cxnId="{F223D623-4837-4E4F-8F26-E000AD9A415A}">
      <dgm:prSet/>
      <dgm:spPr/>
      <dgm:t>
        <a:bodyPr/>
        <a:lstStyle/>
        <a:p>
          <a:endParaRPr lang="en-US"/>
        </a:p>
      </dgm:t>
    </dgm:pt>
    <dgm:pt modelId="{951F09FE-689A-44D7-AEE6-3D8055C152FA}" type="sibTrans" cxnId="{F223D623-4837-4E4F-8F26-E000AD9A415A}">
      <dgm:prSet/>
      <dgm:spPr/>
      <dgm:t>
        <a:bodyPr/>
        <a:lstStyle/>
        <a:p>
          <a:endParaRPr lang="en-US"/>
        </a:p>
      </dgm:t>
    </dgm:pt>
    <dgm:pt modelId="{20DD7C04-AB8E-47B0-AD26-20B69FA5E875}" type="pres">
      <dgm:prSet presAssocID="{BA0A43E4-15A1-4BC8-B627-E91907AEAB93}" presName="root" presStyleCnt="0">
        <dgm:presLayoutVars>
          <dgm:dir/>
          <dgm:resizeHandles val="exact"/>
        </dgm:presLayoutVars>
      </dgm:prSet>
      <dgm:spPr/>
    </dgm:pt>
    <dgm:pt modelId="{3F3A31CF-F018-44A8-AC15-0B4A449CD0BB}" type="pres">
      <dgm:prSet presAssocID="{F499EE18-AC05-4974-BCFC-4E84F1345E05}" presName="compNode" presStyleCnt="0"/>
      <dgm:spPr/>
    </dgm:pt>
    <dgm:pt modelId="{8F49BCDA-0B8F-412A-9E12-812B64936E79}" type="pres">
      <dgm:prSet presAssocID="{F499EE18-AC05-4974-BCFC-4E84F1345E05}" presName="bgRect" presStyleLbl="bgShp" presStyleIdx="0" presStyleCnt="3"/>
      <dgm:spPr/>
    </dgm:pt>
    <dgm:pt modelId="{FC9135B8-88B6-47A7-82C5-0EA61B48BC0C}" type="pres">
      <dgm:prSet presAssocID="{F499EE18-AC05-4974-BCFC-4E84F1345E0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mote control"/>
        </a:ext>
      </dgm:extLst>
    </dgm:pt>
    <dgm:pt modelId="{CEECC1BE-BC24-44FD-BE52-BD391C714FBC}" type="pres">
      <dgm:prSet presAssocID="{F499EE18-AC05-4974-BCFC-4E84F1345E05}" presName="spaceRect" presStyleCnt="0"/>
      <dgm:spPr/>
    </dgm:pt>
    <dgm:pt modelId="{261E6D5A-4FFC-4623-85A4-5335DC33CC8C}" type="pres">
      <dgm:prSet presAssocID="{F499EE18-AC05-4974-BCFC-4E84F1345E05}" presName="parTx" presStyleLbl="revTx" presStyleIdx="0" presStyleCnt="3">
        <dgm:presLayoutVars>
          <dgm:chMax val="0"/>
          <dgm:chPref val="0"/>
        </dgm:presLayoutVars>
      </dgm:prSet>
      <dgm:spPr/>
    </dgm:pt>
    <dgm:pt modelId="{EFD67860-0B8B-4FB7-8FA1-92086ABDCEB8}" type="pres">
      <dgm:prSet presAssocID="{A3D7788C-559D-46A9-9ACB-9BBA5DA3C1FF}" presName="sibTrans" presStyleCnt="0"/>
      <dgm:spPr/>
    </dgm:pt>
    <dgm:pt modelId="{80D79347-B5B7-4F88-B6C2-979519820F27}" type="pres">
      <dgm:prSet presAssocID="{8A4654E6-DC2D-4F74-AB09-AD8D5CFCEA61}" presName="compNode" presStyleCnt="0"/>
      <dgm:spPr/>
    </dgm:pt>
    <dgm:pt modelId="{2446EC83-2AE6-452F-93DB-17D0021E3863}" type="pres">
      <dgm:prSet presAssocID="{8A4654E6-DC2D-4F74-AB09-AD8D5CFCEA61}" presName="bgRect" presStyleLbl="bgShp" presStyleIdx="1" presStyleCnt="3"/>
      <dgm:spPr/>
    </dgm:pt>
    <dgm:pt modelId="{9E0DFE44-B4E8-41C5-B3CB-6BC5257FCC6A}" type="pres">
      <dgm:prSet presAssocID="{8A4654E6-DC2D-4F74-AB09-AD8D5CFCEA6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1F3B86AC-0F19-4B3D-B8E0-F4A08EE698A0}" type="pres">
      <dgm:prSet presAssocID="{8A4654E6-DC2D-4F74-AB09-AD8D5CFCEA61}" presName="spaceRect" presStyleCnt="0"/>
      <dgm:spPr/>
    </dgm:pt>
    <dgm:pt modelId="{3E8F2431-06BF-4924-92AD-4574052A4615}" type="pres">
      <dgm:prSet presAssocID="{8A4654E6-DC2D-4F74-AB09-AD8D5CFCEA61}" presName="parTx" presStyleLbl="revTx" presStyleIdx="1" presStyleCnt="3">
        <dgm:presLayoutVars>
          <dgm:chMax val="0"/>
          <dgm:chPref val="0"/>
        </dgm:presLayoutVars>
      </dgm:prSet>
      <dgm:spPr/>
    </dgm:pt>
    <dgm:pt modelId="{BC3EEADC-DA08-4A6C-8974-39B42273B3A8}" type="pres">
      <dgm:prSet presAssocID="{76DEF703-8AE5-449A-A0C6-F6E88F40ABE3}" presName="sibTrans" presStyleCnt="0"/>
      <dgm:spPr/>
    </dgm:pt>
    <dgm:pt modelId="{219001B5-2ABE-492D-A68B-EAC041A752D4}" type="pres">
      <dgm:prSet presAssocID="{CD399ED3-C54C-4FD0-AB05-4D95A31475D0}" presName="compNode" presStyleCnt="0"/>
      <dgm:spPr/>
    </dgm:pt>
    <dgm:pt modelId="{6A0FDD29-CC63-4D36-8AC7-A1FDD84569F5}" type="pres">
      <dgm:prSet presAssocID="{CD399ED3-C54C-4FD0-AB05-4D95A31475D0}" presName="bgRect" presStyleLbl="bgShp" presStyleIdx="2" presStyleCnt="3"/>
      <dgm:spPr/>
    </dgm:pt>
    <dgm:pt modelId="{0B46095A-FF9D-4EB4-A0F8-6EE78F04F9A7}" type="pres">
      <dgm:prSet presAssocID="{CD399ED3-C54C-4FD0-AB05-4D95A31475D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nk"/>
        </a:ext>
      </dgm:extLst>
    </dgm:pt>
    <dgm:pt modelId="{53A08DE3-C772-4728-9ADA-3433550D825E}" type="pres">
      <dgm:prSet presAssocID="{CD399ED3-C54C-4FD0-AB05-4D95A31475D0}" presName="spaceRect" presStyleCnt="0"/>
      <dgm:spPr/>
    </dgm:pt>
    <dgm:pt modelId="{2C1375D8-5AB5-4E76-BC4F-5E5488E0FD57}" type="pres">
      <dgm:prSet presAssocID="{CD399ED3-C54C-4FD0-AB05-4D95A31475D0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F223D623-4837-4E4F-8F26-E000AD9A415A}" srcId="{BA0A43E4-15A1-4BC8-B627-E91907AEAB93}" destId="{CD399ED3-C54C-4FD0-AB05-4D95A31475D0}" srcOrd="2" destOrd="0" parTransId="{9D5C7EDB-D2F9-44D3-B538-31DD9431670A}" sibTransId="{951F09FE-689A-44D7-AEE6-3D8055C152FA}"/>
    <dgm:cxn modelId="{AAFA8C40-6121-438F-AF34-A97A71EDCC86}" srcId="{BA0A43E4-15A1-4BC8-B627-E91907AEAB93}" destId="{F499EE18-AC05-4974-BCFC-4E84F1345E05}" srcOrd="0" destOrd="0" parTransId="{EDEFB10E-13B2-46C3-8964-C14CEF6331FD}" sibTransId="{A3D7788C-559D-46A9-9ACB-9BBA5DA3C1FF}"/>
    <dgm:cxn modelId="{AD03A270-39B3-42A6-A6E1-F4A2BE5CBEE2}" type="presOf" srcId="{CD399ED3-C54C-4FD0-AB05-4D95A31475D0}" destId="{2C1375D8-5AB5-4E76-BC4F-5E5488E0FD57}" srcOrd="0" destOrd="0" presId="urn:microsoft.com/office/officeart/2018/2/layout/IconVerticalSolidList"/>
    <dgm:cxn modelId="{F0DD077A-4495-4ED0-AC28-399E6594747C}" type="presOf" srcId="{8A4654E6-DC2D-4F74-AB09-AD8D5CFCEA61}" destId="{3E8F2431-06BF-4924-92AD-4574052A4615}" srcOrd="0" destOrd="0" presId="urn:microsoft.com/office/officeart/2018/2/layout/IconVerticalSolidList"/>
    <dgm:cxn modelId="{B4897F9E-EDAE-43DC-8181-0903F0DBCE44}" srcId="{BA0A43E4-15A1-4BC8-B627-E91907AEAB93}" destId="{8A4654E6-DC2D-4F74-AB09-AD8D5CFCEA61}" srcOrd="1" destOrd="0" parTransId="{F394420A-0DE0-4593-A6C6-65D7C86EC710}" sibTransId="{76DEF703-8AE5-449A-A0C6-F6E88F40ABE3}"/>
    <dgm:cxn modelId="{DC03BEA4-9D3E-4EF7-836E-169CD4E9A2F9}" type="presOf" srcId="{BA0A43E4-15A1-4BC8-B627-E91907AEAB93}" destId="{20DD7C04-AB8E-47B0-AD26-20B69FA5E875}" srcOrd="0" destOrd="0" presId="urn:microsoft.com/office/officeart/2018/2/layout/IconVerticalSolidList"/>
    <dgm:cxn modelId="{7CA878EF-6E7E-4937-A4DA-5157E750BB16}" type="presOf" srcId="{F499EE18-AC05-4974-BCFC-4E84F1345E05}" destId="{261E6D5A-4FFC-4623-85A4-5335DC33CC8C}" srcOrd="0" destOrd="0" presId="urn:microsoft.com/office/officeart/2018/2/layout/IconVerticalSolidList"/>
    <dgm:cxn modelId="{0ECFF43F-D0CD-456A-A2CA-AEB8DE7AB87D}" type="presParOf" srcId="{20DD7C04-AB8E-47B0-AD26-20B69FA5E875}" destId="{3F3A31CF-F018-44A8-AC15-0B4A449CD0BB}" srcOrd="0" destOrd="0" presId="urn:microsoft.com/office/officeart/2018/2/layout/IconVerticalSolidList"/>
    <dgm:cxn modelId="{48A6D980-4D91-4310-AB71-0627A5D23D45}" type="presParOf" srcId="{3F3A31CF-F018-44A8-AC15-0B4A449CD0BB}" destId="{8F49BCDA-0B8F-412A-9E12-812B64936E79}" srcOrd="0" destOrd="0" presId="urn:microsoft.com/office/officeart/2018/2/layout/IconVerticalSolidList"/>
    <dgm:cxn modelId="{15DCF085-99E9-4E21-B542-809F781580EC}" type="presParOf" srcId="{3F3A31CF-F018-44A8-AC15-0B4A449CD0BB}" destId="{FC9135B8-88B6-47A7-82C5-0EA61B48BC0C}" srcOrd="1" destOrd="0" presId="urn:microsoft.com/office/officeart/2018/2/layout/IconVerticalSolidList"/>
    <dgm:cxn modelId="{BEB48C62-7694-4F2A-9035-13DE89536883}" type="presParOf" srcId="{3F3A31CF-F018-44A8-AC15-0B4A449CD0BB}" destId="{CEECC1BE-BC24-44FD-BE52-BD391C714FBC}" srcOrd="2" destOrd="0" presId="urn:microsoft.com/office/officeart/2018/2/layout/IconVerticalSolidList"/>
    <dgm:cxn modelId="{0D6C429C-02DE-48A3-96C9-CA2A2103AB64}" type="presParOf" srcId="{3F3A31CF-F018-44A8-AC15-0B4A449CD0BB}" destId="{261E6D5A-4FFC-4623-85A4-5335DC33CC8C}" srcOrd="3" destOrd="0" presId="urn:microsoft.com/office/officeart/2018/2/layout/IconVerticalSolidList"/>
    <dgm:cxn modelId="{D587B684-0F48-4A07-8C99-20B64EBDB1BF}" type="presParOf" srcId="{20DD7C04-AB8E-47B0-AD26-20B69FA5E875}" destId="{EFD67860-0B8B-4FB7-8FA1-92086ABDCEB8}" srcOrd="1" destOrd="0" presId="urn:microsoft.com/office/officeart/2018/2/layout/IconVerticalSolidList"/>
    <dgm:cxn modelId="{2568456F-30E2-4CBE-89B3-45C38D154091}" type="presParOf" srcId="{20DD7C04-AB8E-47B0-AD26-20B69FA5E875}" destId="{80D79347-B5B7-4F88-B6C2-979519820F27}" srcOrd="2" destOrd="0" presId="urn:microsoft.com/office/officeart/2018/2/layout/IconVerticalSolidList"/>
    <dgm:cxn modelId="{9EFDAC3D-92DB-46F1-B0F0-CAB536B36CDC}" type="presParOf" srcId="{80D79347-B5B7-4F88-B6C2-979519820F27}" destId="{2446EC83-2AE6-452F-93DB-17D0021E3863}" srcOrd="0" destOrd="0" presId="urn:microsoft.com/office/officeart/2018/2/layout/IconVerticalSolidList"/>
    <dgm:cxn modelId="{C9319A2A-CF1F-485E-AD2A-FD80A0E4FCC1}" type="presParOf" srcId="{80D79347-B5B7-4F88-B6C2-979519820F27}" destId="{9E0DFE44-B4E8-41C5-B3CB-6BC5257FCC6A}" srcOrd="1" destOrd="0" presId="urn:microsoft.com/office/officeart/2018/2/layout/IconVerticalSolidList"/>
    <dgm:cxn modelId="{570302D8-7893-4964-A5C1-1FF85566918C}" type="presParOf" srcId="{80D79347-B5B7-4F88-B6C2-979519820F27}" destId="{1F3B86AC-0F19-4B3D-B8E0-F4A08EE698A0}" srcOrd="2" destOrd="0" presId="urn:microsoft.com/office/officeart/2018/2/layout/IconVerticalSolidList"/>
    <dgm:cxn modelId="{2F7BD009-FB6D-4ED4-ABF4-CDD9731257C2}" type="presParOf" srcId="{80D79347-B5B7-4F88-B6C2-979519820F27}" destId="{3E8F2431-06BF-4924-92AD-4574052A4615}" srcOrd="3" destOrd="0" presId="urn:microsoft.com/office/officeart/2018/2/layout/IconVerticalSolidList"/>
    <dgm:cxn modelId="{66D39355-771C-413E-9197-EB428E3A07E4}" type="presParOf" srcId="{20DD7C04-AB8E-47B0-AD26-20B69FA5E875}" destId="{BC3EEADC-DA08-4A6C-8974-39B42273B3A8}" srcOrd="3" destOrd="0" presId="urn:microsoft.com/office/officeart/2018/2/layout/IconVerticalSolidList"/>
    <dgm:cxn modelId="{1E3E4F7A-3502-4B91-B7E8-D95B6199A565}" type="presParOf" srcId="{20DD7C04-AB8E-47B0-AD26-20B69FA5E875}" destId="{219001B5-2ABE-492D-A68B-EAC041A752D4}" srcOrd="4" destOrd="0" presId="urn:microsoft.com/office/officeart/2018/2/layout/IconVerticalSolidList"/>
    <dgm:cxn modelId="{A5E1C9B1-B873-49A7-B3E0-86739DD54292}" type="presParOf" srcId="{219001B5-2ABE-492D-A68B-EAC041A752D4}" destId="{6A0FDD29-CC63-4D36-8AC7-A1FDD84569F5}" srcOrd="0" destOrd="0" presId="urn:microsoft.com/office/officeart/2018/2/layout/IconVerticalSolidList"/>
    <dgm:cxn modelId="{A72CAE63-A874-4787-A9D1-BB24D1564969}" type="presParOf" srcId="{219001B5-2ABE-492D-A68B-EAC041A752D4}" destId="{0B46095A-FF9D-4EB4-A0F8-6EE78F04F9A7}" srcOrd="1" destOrd="0" presId="urn:microsoft.com/office/officeart/2018/2/layout/IconVerticalSolidList"/>
    <dgm:cxn modelId="{62D0DB6F-31ED-4EC5-B4CF-CFBFABDC7079}" type="presParOf" srcId="{219001B5-2ABE-492D-A68B-EAC041A752D4}" destId="{53A08DE3-C772-4728-9ADA-3433550D825E}" srcOrd="2" destOrd="0" presId="urn:microsoft.com/office/officeart/2018/2/layout/IconVerticalSolidList"/>
    <dgm:cxn modelId="{832F5C46-BBA1-42B3-AD4A-0B083EBD3AA0}" type="presParOf" srcId="{219001B5-2ABE-492D-A68B-EAC041A752D4}" destId="{2C1375D8-5AB5-4E76-BC4F-5E5488E0FD5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5FF6D41-BA90-4670-8D20-F7F599DE013A}" type="doc">
      <dgm:prSet loTypeId="urn:microsoft.com/office/officeart/2005/8/layout/matrix2" loCatId="matrix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84AB27DA-07A5-4C2A-873E-8251C4C488C4}">
      <dgm:prSet/>
      <dgm:spPr/>
      <dgm:t>
        <a:bodyPr/>
        <a:lstStyle/>
        <a:p>
          <a:r>
            <a:rPr lang="en-US" b="1"/>
            <a:t>Regularized models:</a:t>
          </a:r>
          <a:r>
            <a:rPr lang="en-US"/>
            <a:t> Easier to interpret, capture direct linear trends.</a:t>
          </a:r>
        </a:p>
      </dgm:t>
    </dgm:pt>
    <dgm:pt modelId="{BC0CA7C2-DB68-4314-A3A2-BE23163E8BBB}" type="parTrans" cxnId="{A6D50C31-0BCF-4796-8A73-73F90F56A7B0}">
      <dgm:prSet/>
      <dgm:spPr/>
      <dgm:t>
        <a:bodyPr/>
        <a:lstStyle/>
        <a:p>
          <a:endParaRPr lang="en-US"/>
        </a:p>
      </dgm:t>
    </dgm:pt>
    <dgm:pt modelId="{760C7C20-1827-4164-ABD6-623ACE5F7ACC}" type="sibTrans" cxnId="{A6D50C31-0BCF-4796-8A73-73F90F56A7B0}">
      <dgm:prSet/>
      <dgm:spPr/>
      <dgm:t>
        <a:bodyPr/>
        <a:lstStyle/>
        <a:p>
          <a:endParaRPr lang="en-US"/>
        </a:p>
      </dgm:t>
    </dgm:pt>
    <dgm:pt modelId="{9EA317DD-ADBD-4FBE-81BA-444E3144A65C}">
      <dgm:prSet/>
      <dgm:spPr/>
      <dgm:t>
        <a:bodyPr/>
        <a:lstStyle/>
        <a:p>
          <a:r>
            <a:rPr lang="en-US" b="1"/>
            <a:t>Non-linear models:</a:t>
          </a:r>
          <a:r>
            <a:rPr lang="en-US"/>
            <a:t> Capture complex interactions → higher accuracy.</a:t>
          </a:r>
        </a:p>
      </dgm:t>
    </dgm:pt>
    <dgm:pt modelId="{DBAFC089-7316-4A48-82B2-FEE5A8086682}" type="parTrans" cxnId="{EBA64195-B9CE-49FD-B103-F5EE704B1CB6}">
      <dgm:prSet/>
      <dgm:spPr/>
      <dgm:t>
        <a:bodyPr/>
        <a:lstStyle/>
        <a:p>
          <a:endParaRPr lang="en-US"/>
        </a:p>
      </dgm:t>
    </dgm:pt>
    <dgm:pt modelId="{71A3C6D1-A5A8-4C2B-B4C3-F5418FF66FEC}" type="sibTrans" cxnId="{EBA64195-B9CE-49FD-B103-F5EE704B1CB6}">
      <dgm:prSet/>
      <dgm:spPr/>
      <dgm:t>
        <a:bodyPr/>
        <a:lstStyle/>
        <a:p>
          <a:endParaRPr lang="en-US"/>
        </a:p>
      </dgm:t>
    </dgm:pt>
    <dgm:pt modelId="{6229AA4B-E56E-42D3-B3CB-7F76B7F5493B}">
      <dgm:prSet/>
      <dgm:spPr/>
      <dgm:t>
        <a:bodyPr/>
        <a:lstStyle/>
        <a:p>
          <a:r>
            <a:rPr lang="en-US" b="1"/>
            <a:t>Salary evolution:</a:t>
          </a:r>
          <a:r>
            <a:rPr lang="en-US"/>
            <a:t> 2020–2024 rapid growth; 2025 slight correction.</a:t>
          </a:r>
        </a:p>
      </dgm:t>
    </dgm:pt>
    <dgm:pt modelId="{FAC45118-351F-4F94-AB4F-9FB6F9F0A9AB}" type="parTrans" cxnId="{DBC395AC-A99D-4F80-834A-D75571C8C4A7}">
      <dgm:prSet/>
      <dgm:spPr/>
      <dgm:t>
        <a:bodyPr/>
        <a:lstStyle/>
        <a:p>
          <a:endParaRPr lang="en-US"/>
        </a:p>
      </dgm:t>
    </dgm:pt>
    <dgm:pt modelId="{D726C546-4A22-4F4E-B4BB-15A1C83209C3}" type="sibTrans" cxnId="{DBC395AC-A99D-4F80-834A-D75571C8C4A7}">
      <dgm:prSet/>
      <dgm:spPr/>
      <dgm:t>
        <a:bodyPr/>
        <a:lstStyle/>
        <a:p>
          <a:endParaRPr lang="en-US"/>
        </a:p>
      </dgm:t>
    </dgm:pt>
    <dgm:pt modelId="{5BAFBC10-0324-436E-97E8-A5C8CD9C5C04}">
      <dgm:prSet/>
      <dgm:spPr/>
      <dgm:t>
        <a:bodyPr/>
        <a:lstStyle/>
        <a:p>
          <a:r>
            <a:rPr lang="en-US" b="1"/>
            <a:t>Top salary factors:</a:t>
          </a:r>
          <a:r>
            <a:rPr lang="en-US"/>
            <a:t> Seniority, company size, role type, work setting, and country.</a:t>
          </a:r>
        </a:p>
      </dgm:t>
    </dgm:pt>
    <dgm:pt modelId="{B94E715F-ECE3-43CE-A377-79ACB9DECD0A}" type="parTrans" cxnId="{481A026B-5082-441C-84F7-C02A4EA5C855}">
      <dgm:prSet/>
      <dgm:spPr/>
      <dgm:t>
        <a:bodyPr/>
        <a:lstStyle/>
        <a:p>
          <a:endParaRPr lang="en-US"/>
        </a:p>
      </dgm:t>
    </dgm:pt>
    <dgm:pt modelId="{B02ED57C-0D13-4BBE-9D5F-244C9E029ED0}" type="sibTrans" cxnId="{481A026B-5082-441C-84F7-C02A4EA5C855}">
      <dgm:prSet/>
      <dgm:spPr/>
      <dgm:t>
        <a:bodyPr/>
        <a:lstStyle/>
        <a:p>
          <a:endParaRPr lang="en-US"/>
        </a:p>
      </dgm:t>
    </dgm:pt>
    <dgm:pt modelId="{D0010680-EF84-47FB-A39A-78156300C71D}" type="pres">
      <dgm:prSet presAssocID="{65FF6D41-BA90-4670-8D20-F7F599DE013A}" presName="matrix" presStyleCnt="0">
        <dgm:presLayoutVars>
          <dgm:chMax val="1"/>
          <dgm:dir/>
          <dgm:resizeHandles val="exact"/>
        </dgm:presLayoutVars>
      </dgm:prSet>
      <dgm:spPr/>
    </dgm:pt>
    <dgm:pt modelId="{EDEA34D8-C0D6-49E3-83BE-F2E5D03B2EDD}" type="pres">
      <dgm:prSet presAssocID="{65FF6D41-BA90-4670-8D20-F7F599DE013A}" presName="axisShape" presStyleLbl="bgShp" presStyleIdx="0" presStyleCnt="1"/>
      <dgm:spPr/>
    </dgm:pt>
    <dgm:pt modelId="{F3215A52-A69C-4FF2-BDA7-A1B0FCF4B5C8}" type="pres">
      <dgm:prSet presAssocID="{65FF6D41-BA90-4670-8D20-F7F599DE013A}" presName="rect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F9087012-3F1D-4423-AA60-C3DC74738439}" type="pres">
      <dgm:prSet presAssocID="{65FF6D41-BA90-4670-8D20-F7F599DE013A}" presName="rect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3A50B812-FA8E-494C-BC92-E82FAA7BBA36}" type="pres">
      <dgm:prSet presAssocID="{65FF6D41-BA90-4670-8D20-F7F599DE013A}" presName="rect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9C57C4C8-0549-4AE1-B4A8-CE7C709024E4}" type="pres">
      <dgm:prSet presAssocID="{65FF6D41-BA90-4670-8D20-F7F599DE013A}" presName="rect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A6D50C31-0BCF-4796-8A73-73F90F56A7B0}" srcId="{65FF6D41-BA90-4670-8D20-F7F599DE013A}" destId="{84AB27DA-07A5-4C2A-873E-8251C4C488C4}" srcOrd="0" destOrd="0" parTransId="{BC0CA7C2-DB68-4314-A3A2-BE23163E8BBB}" sibTransId="{760C7C20-1827-4164-ABD6-623ACE5F7ACC}"/>
    <dgm:cxn modelId="{DA189A67-3D02-4690-88DC-13260D76B57D}" type="presOf" srcId="{6229AA4B-E56E-42D3-B3CB-7F76B7F5493B}" destId="{3A50B812-FA8E-494C-BC92-E82FAA7BBA36}" srcOrd="0" destOrd="0" presId="urn:microsoft.com/office/officeart/2005/8/layout/matrix2"/>
    <dgm:cxn modelId="{481A026B-5082-441C-84F7-C02A4EA5C855}" srcId="{65FF6D41-BA90-4670-8D20-F7F599DE013A}" destId="{5BAFBC10-0324-436E-97E8-A5C8CD9C5C04}" srcOrd="3" destOrd="0" parTransId="{B94E715F-ECE3-43CE-A377-79ACB9DECD0A}" sibTransId="{B02ED57C-0D13-4BBE-9D5F-244C9E029ED0}"/>
    <dgm:cxn modelId="{DB1AFC8E-A83B-4487-BEBD-16CC1BD3F649}" type="presOf" srcId="{5BAFBC10-0324-436E-97E8-A5C8CD9C5C04}" destId="{9C57C4C8-0549-4AE1-B4A8-CE7C709024E4}" srcOrd="0" destOrd="0" presId="urn:microsoft.com/office/officeart/2005/8/layout/matrix2"/>
    <dgm:cxn modelId="{EBA64195-B9CE-49FD-B103-F5EE704B1CB6}" srcId="{65FF6D41-BA90-4670-8D20-F7F599DE013A}" destId="{9EA317DD-ADBD-4FBE-81BA-444E3144A65C}" srcOrd="1" destOrd="0" parTransId="{DBAFC089-7316-4A48-82B2-FEE5A8086682}" sibTransId="{71A3C6D1-A5A8-4C2B-B4C3-F5418FF66FEC}"/>
    <dgm:cxn modelId="{BABD949D-3DAC-4FF6-98DA-CBF9220F9718}" type="presOf" srcId="{84AB27DA-07A5-4C2A-873E-8251C4C488C4}" destId="{F3215A52-A69C-4FF2-BDA7-A1B0FCF4B5C8}" srcOrd="0" destOrd="0" presId="urn:microsoft.com/office/officeart/2005/8/layout/matrix2"/>
    <dgm:cxn modelId="{DBC395AC-A99D-4F80-834A-D75571C8C4A7}" srcId="{65FF6D41-BA90-4670-8D20-F7F599DE013A}" destId="{6229AA4B-E56E-42D3-B3CB-7F76B7F5493B}" srcOrd="2" destOrd="0" parTransId="{FAC45118-351F-4F94-AB4F-9FB6F9F0A9AB}" sibTransId="{D726C546-4A22-4F4E-B4BB-15A1C83209C3}"/>
    <dgm:cxn modelId="{F473B0E8-1BCB-43FF-9991-B055E18FB3AE}" type="presOf" srcId="{9EA317DD-ADBD-4FBE-81BA-444E3144A65C}" destId="{F9087012-3F1D-4423-AA60-C3DC74738439}" srcOrd="0" destOrd="0" presId="urn:microsoft.com/office/officeart/2005/8/layout/matrix2"/>
    <dgm:cxn modelId="{2794A3F4-A155-45DD-8661-1A41FF3DE93A}" type="presOf" srcId="{65FF6D41-BA90-4670-8D20-F7F599DE013A}" destId="{D0010680-EF84-47FB-A39A-78156300C71D}" srcOrd="0" destOrd="0" presId="urn:microsoft.com/office/officeart/2005/8/layout/matrix2"/>
    <dgm:cxn modelId="{53707AB9-2F70-4356-86A9-C0CCD31FD949}" type="presParOf" srcId="{D0010680-EF84-47FB-A39A-78156300C71D}" destId="{EDEA34D8-C0D6-49E3-83BE-F2E5D03B2EDD}" srcOrd="0" destOrd="0" presId="urn:microsoft.com/office/officeart/2005/8/layout/matrix2"/>
    <dgm:cxn modelId="{9FD7749A-5F10-4A32-9CAC-76326AC8ACF9}" type="presParOf" srcId="{D0010680-EF84-47FB-A39A-78156300C71D}" destId="{F3215A52-A69C-4FF2-BDA7-A1B0FCF4B5C8}" srcOrd="1" destOrd="0" presId="urn:microsoft.com/office/officeart/2005/8/layout/matrix2"/>
    <dgm:cxn modelId="{608FEC93-8A43-437E-A27E-244323556176}" type="presParOf" srcId="{D0010680-EF84-47FB-A39A-78156300C71D}" destId="{F9087012-3F1D-4423-AA60-C3DC74738439}" srcOrd="2" destOrd="0" presId="urn:microsoft.com/office/officeart/2005/8/layout/matrix2"/>
    <dgm:cxn modelId="{2D566595-F70E-4A70-B166-90F84018E501}" type="presParOf" srcId="{D0010680-EF84-47FB-A39A-78156300C71D}" destId="{3A50B812-FA8E-494C-BC92-E82FAA7BBA36}" srcOrd="3" destOrd="0" presId="urn:microsoft.com/office/officeart/2005/8/layout/matrix2"/>
    <dgm:cxn modelId="{2A1965E0-5586-4B74-A06A-E6F3E460F52D}" type="presParOf" srcId="{D0010680-EF84-47FB-A39A-78156300C71D}" destId="{9C57C4C8-0549-4AE1-B4A8-CE7C709024E4}" srcOrd="4" destOrd="0" presId="urn:microsoft.com/office/officeart/2005/8/layout/matrix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B07B6AD-7F1A-4FEF-80E4-0D834F67BC4C}" type="doc">
      <dgm:prSet loTypeId="urn:microsoft.com/office/officeart/2005/8/layout/hierarchy3" loCatId="hierarchy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8335143-519D-4BC5-894C-F67EE308980A}">
      <dgm:prSet/>
      <dgm:spPr/>
      <dgm:t>
        <a:bodyPr/>
        <a:lstStyle/>
        <a:p>
          <a:r>
            <a:rPr lang="en-US"/>
            <a:t>Hyper Parameter Tuning.</a:t>
          </a:r>
        </a:p>
      </dgm:t>
    </dgm:pt>
    <dgm:pt modelId="{6A7BFFCA-B3FF-4380-8598-A624F3E350C0}" type="parTrans" cxnId="{FC6F8601-28C4-4DDE-9A92-0CFC34B2C3F1}">
      <dgm:prSet/>
      <dgm:spPr/>
      <dgm:t>
        <a:bodyPr/>
        <a:lstStyle/>
        <a:p>
          <a:endParaRPr lang="en-US"/>
        </a:p>
      </dgm:t>
    </dgm:pt>
    <dgm:pt modelId="{C1DBBB9D-AD60-4FC4-923B-CA759EEE2599}" type="sibTrans" cxnId="{FC6F8601-28C4-4DDE-9A92-0CFC34B2C3F1}">
      <dgm:prSet/>
      <dgm:spPr/>
      <dgm:t>
        <a:bodyPr/>
        <a:lstStyle/>
        <a:p>
          <a:endParaRPr lang="en-US"/>
        </a:p>
      </dgm:t>
    </dgm:pt>
    <dgm:pt modelId="{FE76E6C0-6BBA-4E9A-AEB4-7D5B7D4C48D0}">
      <dgm:prSet/>
      <dgm:spPr/>
      <dgm:t>
        <a:bodyPr/>
        <a:lstStyle/>
        <a:p>
          <a:r>
            <a:rPr lang="en-US"/>
            <a:t>Apply SHAP analysis for interpretability.</a:t>
          </a:r>
        </a:p>
      </dgm:t>
    </dgm:pt>
    <dgm:pt modelId="{587D423D-22CF-4FE1-BE8B-EF10AEB91B89}" type="parTrans" cxnId="{6F1BE0C3-ABBE-43D2-B977-93E89C1FBBDA}">
      <dgm:prSet/>
      <dgm:spPr/>
      <dgm:t>
        <a:bodyPr/>
        <a:lstStyle/>
        <a:p>
          <a:endParaRPr lang="en-US"/>
        </a:p>
      </dgm:t>
    </dgm:pt>
    <dgm:pt modelId="{A9035F77-D3E0-4140-8055-69DEA4107E55}" type="sibTrans" cxnId="{6F1BE0C3-ABBE-43D2-B977-93E89C1FBBDA}">
      <dgm:prSet/>
      <dgm:spPr/>
      <dgm:t>
        <a:bodyPr/>
        <a:lstStyle/>
        <a:p>
          <a:endParaRPr lang="en-US"/>
        </a:p>
      </dgm:t>
    </dgm:pt>
    <dgm:pt modelId="{A2573B22-8CDB-45CB-BD59-31393E10AAFD}">
      <dgm:prSet/>
      <dgm:spPr/>
      <dgm:t>
        <a:bodyPr/>
        <a:lstStyle/>
        <a:p>
          <a:r>
            <a:rPr lang="en-IN"/>
            <a:t>FPR</a:t>
          </a:r>
          <a:endParaRPr lang="en-US"/>
        </a:p>
      </dgm:t>
    </dgm:pt>
    <dgm:pt modelId="{5BBF0058-07EC-4CC4-BB41-35B9D57FE8AB}" type="parTrans" cxnId="{4F15C8C4-87FE-4EFC-8433-6E66BA06C5AB}">
      <dgm:prSet/>
      <dgm:spPr/>
      <dgm:t>
        <a:bodyPr/>
        <a:lstStyle/>
        <a:p>
          <a:endParaRPr lang="en-US"/>
        </a:p>
      </dgm:t>
    </dgm:pt>
    <dgm:pt modelId="{D4B3BEB2-3DDB-4539-B2D5-2156525AD4E6}" type="sibTrans" cxnId="{4F15C8C4-87FE-4EFC-8433-6E66BA06C5AB}">
      <dgm:prSet/>
      <dgm:spPr/>
      <dgm:t>
        <a:bodyPr/>
        <a:lstStyle/>
        <a:p>
          <a:endParaRPr lang="en-US"/>
        </a:p>
      </dgm:t>
    </dgm:pt>
    <dgm:pt modelId="{E4EF9B57-79E7-4132-B8EE-1A1ED52F3BD0}" type="pres">
      <dgm:prSet presAssocID="{EB07B6AD-7F1A-4FEF-80E4-0D834F67BC4C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A934FB3-F982-488B-BF42-852E499769A5}" type="pres">
      <dgm:prSet presAssocID="{08335143-519D-4BC5-894C-F67EE308980A}" presName="root" presStyleCnt="0"/>
      <dgm:spPr/>
    </dgm:pt>
    <dgm:pt modelId="{BB878CAD-033F-4190-99CE-43CEC8F0AD09}" type="pres">
      <dgm:prSet presAssocID="{08335143-519D-4BC5-894C-F67EE308980A}" presName="rootComposite" presStyleCnt="0"/>
      <dgm:spPr/>
    </dgm:pt>
    <dgm:pt modelId="{8C5D6B8D-73EE-4A10-A562-449A3A6C519D}" type="pres">
      <dgm:prSet presAssocID="{08335143-519D-4BC5-894C-F67EE308980A}" presName="rootText" presStyleLbl="node1" presStyleIdx="0" presStyleCnt="3"/>
      <dgm:spPr/>
    </dgm:pt>
    <dgm:pt modelId="{AE32F40D-C89B-4C8B-8329-B8C481B87941}" type="pres">
      <dgm:prSet presAssocID="{08335143-519D-4BC5-894C-F67EE308980A}" presName="rootConnector" presStyleLbl="node1" presStyleIdx="0" presStyleCnt="3"/>
      <dgm:spPr/>
    </dgm:pt>
    <dgm:pt modelId="{EB968D49-256A-4167-B0F5-9162C0ED5CFC}" type="pres">
      <dgm:prSet presAssocID="{08335143-519D-4BC5-894C-F67EE308980A}" presName="childShape" presStyleCnt="0"/>
      <dgm:spPr/>
    </dgm:pt>
    <dgm:pt modelId="{5F439DA7-C660-4E35-B3B4-EBB5E676DEF0}" type="pres">
      <dgm:prSet presAssocID="{FE76E6C0-6BBA-4E9A-AEB4-7D5B7D4C48D0}" presName="root" presStyleCnt="0"/>
      <dgm:spPr/>
    </dgm:pt>
    <dgm:pt modelId="{046C9D42-141A-4AB4-BFA0-DC190FE9B5C2}" type="pres">
      <dgm:prSet presAssocID="{FE76E6C0-6BBA-4E9A-AEB4-7D5B7D4C48D0}" presName="rootComposite" presStyleCnt="0"/>
      <dgm:spPr/>
    </dgm:pt>
    <dgm:pt modelId="{C19B5A60-68DA-433B-B74A-134E778011EA}" type="pres">
      <dgm:prSet presAssocID="{FE76E6C0-6BBA-4E9A-AEB4-7D5B7D4C48D0}" presName="rootText" presStyleLbl="node1" presStyleIdx="1" presStyleCnt="3"/>
      <dgm:spPr/>
    </dgm:pt>
    <dgm:pt modelId="{6EA8FBD9-687B-4CB9-8A47-B8040E14E6DA}" type="pres">
      <dgm:prSet presAssocID="{FE76E6C0-6BBA-4E9A-AEB4-7D5B7D4C48D0}" presName="rootConnector" presStyleLbl="node1" presStyleIdx="1" presStyleCnt="3"/>
      <dgm:spPr/>
    </dgm:pt>
    <dgm:pt modelId="{FC7717B0-7079-42D7-A3EA-B090A9E919B6}" type="pres">
      <dgm:prSet presAssocID="{FE76E6C0-6BBA-4E9A-AEB4-7D5B7D4C48D0}" presName="childShape" presStyleCnt="0"/>
      <dgm:spPr/>
    </dgm:pt>
    <dgm:pt modelId="{9CC9BE71-067D-4FA5-84C0-89CC01837153}" type="pres">
      <dgm:prSet presAssocID="{A2573B22-8CDB-45CB-BD59-31393E10AAFD}" presName="root" presStyleCnt="0"/>
      <dgm:spPr/>
    </dgm:pt>
    <dgm:pt modelId="{1467D1A8-4843-4607-B5BF-9E379F4EE314}" type="pres">
      <dgm:prSet presAssocID="{A2573B22-8CDB-45CB-BD59-31393E10AAFD}" presName="rootComposite" presStyleCnt="0"/>
      <dgm:spPr/>
    </dgm:pt>
    <dgm:pt modelId="{339E8356-98B9-46B6-AF43-27EADBB56FD1}" type="pres">
      <dgm:prSet presAssocID="{A2573B22-8CDB-45CB-BD59-31393E10AAFD}" presName="rootText" presStyleLbl="node1" presStyleIdx="2" presStyleCnt="3"/>
      <dgm:spPr/>
    </dgm:pt>
    <dgm:pt modelId="{46D372DC-F8DB-49C6-9DF8-AEF5A17902C6}" type="pres">
      <dgm:prSet presAssocID="{A2573B22-8CDB-45CB-BD59-31393E10AAFD}" presName="rootConnector" presStyleLbl="node1" presStyleIdx="2" presStyleCnt="3"/>
      <dgm:spPr/>
    </dgm:pt>
    <dgm:pt modelId="{83694B2F-0DE6-4B6B-96CB-BCE9FD4B9E5B}" type="pres">
      <dgm:prSet presAssocID="{A2573B22-8CDB-45CB-BD59-31393E10AAFD}" presName="childShape" presStyleCnt="0"/>
      <dgm:spPr/>
    </dgm:pt>
  </dgm:ptLst>
  <dgm:cxnLst>
    <dgm:cxn modelId="{FC6F8601-28C4-4DDE-9A92-0CFC34B2C3F1}" srcId="{EB07B6AD-7F1A-4FEF-80E4-0D834F67BC4C}" destId="{08335143-519D-4BC5-894C-F67EE308980A}" srcOrd="0" destOrd="0" parTransId="{6A7BFFCA-B3FF-4380-8598-A624F3E350C0}" sibTransId="{C1DBBB9D-AD60-4FC4-923B-CA759EEE2599}"/>
    <dgm:cxn modelId="{8BCE953F-81BB-4F72-A7FB-1189BF12E84A}" type="presOf" srcId="{08335143-519D-4BC5-894C-F67EE308980A}" destId="{8C5D6B8D-73EE-4A10-A562-449A3A6C519D}" srcOrd="0" destOrd="0" presId="urn:microsoft.com/office/officeart/2005/8/layout/hierarchy3"/>
    <dgm:cxn modelId="{B24F5884-6F0F-4C19-95FD-D0F547CC8FD3}" type="presOf" srcId="{A2573B22-8CDB-45CB-BD59-31393E10AAFD}" destId="{339E8356-98B9-46B6-AF43-27EADBB56FD1}" srcOrd="0" destOrd="0" presId="urn:microsoft.com/office/officeart/2005/8/layout/hierarchy3"/>
    <dgm:cxn modelId="{8B0BA29C-8979-4147-A4D7-B6BFE1623FA8}" type="presOf" srcId="{A2573B22-8CDB-45CB-BD59-31393E10AAFD}" destId="{46D372DC-F8DB-49C6-9DF8-AEF5A17902C6}" srcOrd="1" destOrd="0" presId="urn:microsoft.com/office/officeart/2005/8/layout/hierarchy3"/>
    <dgm:cxn modelId="{6F1BE0C3-ABBE-43D2-B977-93E89C1FBBDA}" srcId="{EB07B6AD-7F1A-4FEF-80E4-0D834F67BC4C}" destId="{FE76E6C0-6BBA-4E9A-AEB4-7D5B7D4C48D0}" srcOrd="1" destOrd="0" parTransId="{587D423D-22CF-4FE1-BE8B-EF10AEB91B89}" sibTransId="{A9035F77-D3E0-4140-8055-69DEA4107E55}"/>
    <dgm:cxn modelId="{4F15C8C4-87FE-4EFC-8433-6E66BA06C5AB}" srcId="{EB07B6AD-7F1A-4FEF-80E4-0D834F67BC4C}" destId="{A2573B22-8CDB-45CB-BD59-31393E10AAFD}" srcOrd="2" destOrd="0" parTransId="{5BBF0058-07EC-4CC4-BB41-35B9D57FE8AB}" sibTransId="{D4B3BEB2-3DDB-4539-B2D5-2156525AD4E6}"/>
    <dgm:cxn modelId="{460CA8D3-4DD6-4E3A-AF19-BDA24AE4979D}" type="presOf" srcId="{08335143-519D-4BC5-894C-F67EE308980A}" destId="{AE32F40D-C89B-4C8B-8329-B8C481B87941}" srcOrd="1" destOrd="0" presId="urn:microsoft.com/office/officeart/2005/8/layout/hierarchy3"/>
    <dgm:cxn modelId="{F7EADAE5-084C-4EAC-8782-2D3F346FFF7E}" type="presOf" srcId="{FE76E6C0-6BBA-4E9A-AEB4-7D5B7D4C48D0}" destId="{6EA8FBD9-687B-4CB9-8A47-B8040E14E6DA}" srcOrd="1" destOrd="0" presId="urn:microsoft.com/office/officeart/2005/8/layout/hierarchy3"/>
    <dgm:cxn modelId="{FC8615ED-6E67-4FDF-BA03-94006308542D}" type="presOf" srcId="{EB07B6AD-7F1A-4FEF-80E4-0D834F67BC4C}" destId="{E4EF9B57-79E7-4132-B8EE-1A1ED52F3BD0}" srcOrd="0" destOrd="0" presId="urn:microsoft.com/office/officeart/2005/8/layout/hierarchy3"/>
    <dgm:cxn modelId="{2F9085F4-3DE8-40B4-858B-B7AF08149B46}" type="presOf" srcId="{FE76E6C0-6BBA-4E9A-AEB4-7D5B7D4C48D0}" destId="{C19B5A60-68DA-433B-B74A-134E778011EA}" srcOrd="0" destOrd="0" presId="urn:microsoft.com/office/officeart/2005/8/layout/hierarchy3"/>
    <dgm:cxn modelId="{3F177EC1-3D14-41B4-9F21-004CB99CFAC4}" type="presParOf" srcId="{E4EF9B57-79E7-4132-B8EE-1A1ED52F3BD0}" destId="{8A934FB3-F982-488B-BF42-852E499769A5}" srcOrd="0" destOrd="0" presId="urn:microsoft.com/office/officeart/2005/8/layout/hierarchy3"/>
    <dgm:cxn modelId="{8893DCFA-D92D-447D-8F35-EC32DCEC512B}" type="presParOf" srcId="{8A934FB3-F982-488B-BF42-852E499769A5}" destId="{BB878CAD-033F-4190-99CE-43CEC8F0AD09}" srcOrd="0" destOrd="0" presId="urn:microsoft.com/office/officeart/2005/8/layout/hierarchy3"/>
    <dgm:cxn modelId="{84028EAB-6D56-40B8-9E57-39F8C3BF54C7}" type="presParOf" srcId="{BB878CAD-033F-4190-99CE-43CEC8F0AD09}" destId="{8C5D6B8D-73EE-4A10-A562-449A3A6C519D}" srcOrd="0" destOrd="0" presId="urn:microsoft.com/office/officeart/2005/8/layout/hierarchy3"/>
    <dgm:cxn modelId="{DBE6895E-D603-4B51-9986-DDEA968C4969}" type="presParOf" srcId="{BB878CAD-033F-4190-99CE-43CEC8F0AD09}" destId="{AE32F40D-C89B-4C8B-8329-B8C481B87941}" srcOrd="1" destOrd="0" presId="urn:microsoft.com/office/officeart/2005/8/layout/hierarchy3"/>
    <dgm:cxn modelId="{E4DCE7DE-2521-4962-840C-C320048AD4A0}" type="presParOf" srcId="{8A934FB3-F982-488B-BF42-852E499769A5}" destId="{EB968D49-256A-4167-B0F5-9162C0ED5CFC}" srcOrd="1" destOrd="0" presId="urn:microsoft.com/office/officeart/2005/8/layout/hierarchy3"/>
    <dgm:cxn modelId="{CD7B96D1-38FD-4CD3-9C8F-356873F1E872}" type="presParOf" srcId="{E4EF9B57-79E7-4132-B8EE-1A1ED52F3BD0}" destId="{5F439DA7-C660-4E35-B3B4-EBB5E676DEF0}" srcOrd="1" destOrd="0" presId="urn:microsoft.com/office/officeart/2005/8/layout/hierarchy3"/>
    <dgm:cxn modelId="{82426B6D-5471-45F0-988D-782713EB17EA}" type="presParOf" srcId="{5F439DA7-C660-4E35-B3B4-EBB5E676DEF0}" destId="{046C9D42-141A-4AB4-BFA0-DC190FE9B5C2}" srcOrd="0" destOrd="0" presId="urn:microsoft.com/office/officeart/2005/8/layout/hierarchy3"/>
    <dgm:cxn modelId="{9F905CC5-B903-43BC-8012-F4DF1639F4A2}" type="presParOf" srcId="{046C9D42-141A-4AB4-BFA0-DC190FE9B5C2}" destId="{C19B5A60-68DA-433B-B74A-134E778011EA}" srcOrd="0" destOrd="0" presId="urn:microsoft.com/office/officeart/2005/8/layout/hierarchy3"/>
    <dgm:cxn modelId="{11A59FE4-0011-4ADF-8A1F-9D2592D7AE2A}" type="presParOf" srcId="{046C9D42-141A-4AB4-BFA0-DC190FE9B5C2}" destId="{6EA8FBD9-687B-4CB9-8A47-B8040E14E6DA}" srcOrd="1" destOrd="0" presId="urn:microsoft.com/office/officeart/2005/8/layout/hierarchy3"/>
    <dgm:cxn modelId="{6FA67733-3CED-429C-83E9-F4873ED386D4}" type="presParOf" srcId="{5F439DA7-C660-4E35-B3B4-EBB5E676DEF0}" destId="{FC7717B0-7079-42D7-A3EA-B090A9E919B6}" srcOrd="1" destOrd="0" presId="urn:microsoft.com/office/officeart/2005/8/layout/hierarchy3"/>
    <dgm:cxn modelId="{A901358C-1104-4FA6-AED8-B4BDB2985F2D}" type="presParOf" srcId="{E4EF9B57-79E7-4132-B8EE-1A1ED52F3BD0}" destId="{9CC9BE71-067D-4FA5-84C0-89CC01837153}" srcOrd="2" destOrd="0" presId="urn:microsoft.com/office/officeart/2005/8/layout/hierarchy3"/>
    <dgm:cxn modelId="{41CB5EAC-029D-4DAB-AF3A-6C4CC71EECC4}" type="presParOf" srcId="{9CC9BE71-067D-4FA5-84C0-89CC01837153}" destId="{1467D1A8-4843-4607-B5BF-9E379F4EE314}" srcOrd="0" destOrd="0" presId="urn:microsoft.com/office/officeart/2005/8/layout/hierarchy3"/>
    <dgm:cxn modelId="{DE4F5FC7-099A-41A9-9F86-71A6F9EB7113}" type="presParOf" srcId="{1467D1A8-4843-4607-B5BF-9E379F4EE314}" destId="{339E8356-98B9-46B6-AF43-27EADBB56FD1}" srcOrd="0" destOrd="0" presId="urn:microsoft.com/office/officeart/2005/8/layout/hierarchy3"/>
    <dgm:cxn modelId="{E7FF8E70-FD3E-4550-A79C-6C4F98DB5850}" type="presParOf" srcId="{1467D1A8-4843-4607-B5BF-9E379F4EE314}" destId="{46D372DC-F8DB-49C6-9DF8-AEF5A17902C6}" srcOrd="1" destOrd="0" presId="urn:microsoft.com/office/officeart/2005/8/layout/hierarchy3"/>
    <dgm:cxn modelId="{CC55C58E-DB51-41A1-9C52-447448A701EB}" type="presParOf" srcId="{9CC9BE71-067D-4FA5-84C0-89CC01837153}" destId="{83694B2F-0DE6-4B6B-96CB-BCE9FD4B9E5B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3319D50-410A-4F52-81EC-3FC2FB5BAC8A}" type="doc">
      <dgm:prSet loTypeId="urn:microsoft.com/office/officeart/2008/layout/LinedList" loCatId="list" qsTypeId="urn:microsoft.com/office/officeart/2005/8/quickstyle/simple4" qsCatId="simple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895A740E-0E1E-450E-A3AF-D48A72620954}">
      <dgm:prSet/>
      <dgm:spPr/>
      <dgm:t>
        <a:bodyPr/>
        <a:lstStyle/>
        <a:p>
          <a:r>
            <a:rPr lang="en-US" b="0" i="0" baseline="0" dirty="0"/>
            <a:t>Rahhal, I., et al., 2024. </a:t>
          </a:r>
          <a:r>
            <a:rPr lang="en-US" b="0" i="1" baseline="0" dirty="0"/>
            <a:t>Data science for job market analysis: A survey on </a:t>
          </a:r>
          <a:r>
            <a:rPr lang="en-US" b="0" i="1" baseline="0" dirty="0" err="1"/>
            <a:t>labour</a:t>
          </a:r>
          <a:r>
            <a:rPr lang="en-US" b="0" i="1" baseline="0" dirty="0"/>
            <a:t> market analytics</a:t>
          </a:r>
          <a:r>
            <a:rPr lang="en-US" b="0" i="0" baseline="0" dirty="0"/>
            <a:t>. </a:t>
          </a:r>
          <a:r>
            <a:rPr lang="en-US" b="0" i="1" baseline="0" dirty="0"/>
            <a:t>Expert Systems with Applications</a:t>
          </a:r>
          <a:r>
            <a:rPr lang="en-US" b="0" i="0" baseline="0" dirty="0"/>
            <a:t>: </a:t>
          </a:r>
          <a:r>
            <a:rPr lang="en-IN" b="0" i="0" baseline="0" dirty="0">
              <a:hlinkClick xmlns:r="http://schemas.openxmlformats.org/officeDocument/2006/relationships" r:id="rId1"/>
            </a:rPr>
            <a:t>https://www.sciencedirect.com/science/article/abs/pii/S0957417424009679</a:t>
          </a:r>
          <a:endParaRPr lang="en-US" dirty="0"/>
        </a:p>
      </dgm:t>
    </dgm:pt>
    <dgm:pt modelId="{618FD937-D0F7-47F6-B9B9-C528C12BCD5D}" type="parTrans" cxnId="{924E92EF-6EAA-4123-84F0-404879CF95F6}">
      <dgm:prSet/>
      <dgm:spPr/>
      <dgm:t>
        <a:bodyPr/>
        <a:lstStyle/>
        <a:p>
          <a:endParaRPr lang="en-US"/>
        </a:p>
      </dgm:t>
    </dgm:pt>
    <dgm:pt modelId="{6BDD8447-CDAA-4E95-9388-F6303DE93F9D}" type="sibTrans" cxnId="{924E92EF-6EAA-4123-84F0-404879CF95F6}">
      <dgm:prSet/>
      <dgm:spPr/>
      <dgm:t>
        <a:bodyPr/>
        <a:lstStyle/>
        <a:p>
          <a:endParaRPr lang="en-US"/>
        </a:p>
      </dgm:t>
    </dgm:pt>
    <dgm:pt modelId="{089C1DFD-F918-4565-BDDC-2356231A8CAB}">
      <dgm:prSet/>
      <dgm:spPr/>
      <dgm:t>
        <a:bodyPr/>
        <a:lstStyle/>
        <a:p>
          <a:r>
            <a:rPr lang="en-US" b="0" i="0" baseline="0" dirty="0"/>
            <a:t>Bone, M., Ehlinger, E. &amp; Stephany, F., 2023. </a:t>
          </a:r>
          <a:r>
            <a:rPr lang="en-US" b="0" i="1" baseline="0" dirty="0"/>
            <a:t>Skills or Degree? The Rise of Skill-Based Hiring for AI and Green Jobs</a:t>
          </a:r>
          <a:r>
            <a:rPr lang="en-US" b="0" i="0" baseline="0" dirty="0"/>
            <a:t>. </a:t>
          </a:r>
          <a:r>
            <a:rPr lang="en-US" b="0" i="0" baseline="0" dirty="0" err="1"/>
            <a:t>arXiv</a:t>
          </a:r>
          <a:r>
            <a:rPr lang="en-US" b="0" i="0" baseline="0" dirty="0"/>
            <a:t> [preprint] arXiv:2312.11942:  </a:t>
          </a:r>
          <a:r>
            <a:rPr lang="en-US" b="0" i="0" baseline="0" dirty="0">
              <a:hlinkClick xmlns:r="http://schemas.openxmlformats.org/officeDocument/2006/relationships" r:id="rId2"/>
            </a:rPr>
            <a:t>https://arxiv.org/abs/2312.11942</a:t>
          </a:r>
          <a:endParaRPr lang="en-US" dirty="0"/>
        </a:p>
      </dgm:t>
    </dgm:pt>
    <dgm:pt modelId="{A7F50448-22E7-47C9-8536-435CD26DEE0E}" type="parTrans" cxnId="{C8462D51-685E-4823-A9C9-4030DFAFA41C}">
      <dgm:prSet/>
      <dgm:spPr/>
      <dgm:t>
        <a:bodyPr/>
        <a:lstStyle/>
        <a:p>
          <a:endParaRPr lang="en-US"/>
        </a:p>
      </dgm:t>
    </dgm:pt>
    <dgm:pt modelId="{16420C07-EEF9-4A1A-8572-F82B8D981C48}" type="sibTrans" cxnId="{C8462D51-685E-4823-A9C9-4030DFAFA41C}">
      <dgm:prSet/>
      <dgm:spPr/>
      <dgm:t>
        <a:bodyPr/>
        <a:lstStyle/>
        <a:p>
          <a:endParaRPr lang="en-US"/>
        </a:p>
      </dgm:t>
    </dgm:pt>
    <dgm:pt modelId="{F2515159-7B8A-4D30-B01D-27B47BB83514}">
      <dgm:prSet/>
      <dgm:spPr/>
      <dgm:t>
        <a:bodyPr/>
        <a:lstStyle/>
        <a:p>
          <a:r>
            <a:rPr lang="en-US" b="0" i="0" baseline="0" dirty="0"/>
            <a:t>Stephany, F., Mira, A. &amp; Bone, M., 2025. </a:t>
          </a:r>
          <a:r>
            <a:rPr lang="en-US" b="0" i="1" baseline="0" dirty="0"/>
            <a:t>Beyond pay: AI skills reward more job benefits</a:t>
          </a:r>
          <a:r>
            <a:rPr lang="en-US" b="0" i="0" baseline="0" dirty="0"/>
            <a:t>. </a:t>
          </a:r>
          <a:r>
            <a:rPr lang="en-US" b="0" i="0" baseline="0" dirty="0" err="1"/>
            <a:t>arXiv</a:t>
          </a:r>
          <a:r>
            <a:rPr lang="en-US" b="0" i="0" baseline="0" dirty="0"/>
            <a:t> [preprint] arXiv:2507.20410: </a:t>
          </a:r>
          <a:r>
            <a:rPr lang="en-US" b="0" i="0" baseline="0" dirty="0">
              <a:hlinkClick xmlns:r="http://schemas.openxmlformats.org/officeDocument/2006/relationships" r:id="rId3"/>
            </a:rPr>
            <a:t>https://arxiv.org/abs/2507.20410</a:t>
          </a:r>
          <a:endParaRPr lang="en-US" dirty="0"/>
        </a:p>
      </dgm:t>
    </dgm:pt>
    <dgm:pt modelId="{71445B76-BEDF-478C-981D-FA99CCAC1027}" type="parTrans" cxnId="{66F493A1-61EC-45D9-8042-126A9AF98D81}">
      <dgm:prSet/>
      <dgm:spPr/>
      <dgm:t>
        <a:bodyPr/>
        <a:lstStyle/>
        <a:p>
          <a:endParaRPr lang="en-US"/>
        </a:p>
      </dgm:t>
    </dgm:pt>
    <dgm:pt modelId="{F6238945-95E3-4004-AE73-E4D5119E6131}" type="sibTrans" cxnId="{66F493A1-61EC-45D9-8042-126A9AF98D81}">
      <dgm:prSet/>
      <dgm:spPr/>
      <dgm:t>
        <a:bodyPr/>
        <a:lstStyle/>
        <a:p>
          <a:endParaRPr lang="en-US"/>
        </a:p>
      </dgm:t>
    </dgm:pt>
    <dgm:pt modelId="{ACAC8163-5431-4823-8539-C7BB9650788A}" type="pres">
      <dgm:prSet presAssocID="{F3319D50-410A-4F52-81EC-3FC2FB5BAC8A}" presName="vert0" presStyleCnt="0">
        <dgm:presLayoutVars>
          <dgm:dir/>
          <dgm:animOne val="branch"/>
          <dgm:animLvl val="lvl"/>
        </dgm:presLayoutVars>
      </dgm:prSet>
      <dgm:spPr/>
    </dgm:pt>
    <dgm:pt modelId="{D4296A85-DEC8-4F5C-8929-C92D02B9E22A}" type="pres">
      <dgm:prSet presAssocID="{895A740E-0E1E-450E-A3AF-D48A72620954}" presName="thickLine" presStyleLbl="alignNode1" presStyleIdx="0" presStyleCnt="3"/>
      <dgm:spPr/>
    </dgm:pt>
    <dgm:pt modelId="{1E0FA92C-82FC-441B-9312-06BBBD89CE65}" type="pres">
      <dgm:prSet presAssocID="{895A740E-0E1E-450E-A3AF-D48A72620954}" presName="horz1" presStyleCnt="0"/>
      <dgm:spPr/>
    </dgm:pt>
    <dgm:pt modelId="{F0B27243-96A4-4774-87B1-01175857DAB5}" type="pres">
      <dgm:prSet presAssocID="{895A740E-0E1E-450E-A3AF-D48A72620954}" presName="tx1" presStyleLbl="revTx" presStyleIdx="0" presStyleCnt="3"/>
      <dgm:spPr/>
    </dgm:pt>
    <dgm:pt modelId="{83F61DDE-F1D6-4EEC-9261-405B09B40AF2}" type="pres">
      <dgm:prSet presAssocID="{895A740E-0E1E-450E-A3AF-D48A72620954}" presName="vert1" presStyleCnt="0"/>
      <dgm:spPr/>
    </dgm:pt>
    <dgm:pt modelId="{8E073050-F311-42A1-A375-BCB7999ABC8A}" type="pres">
      <dgm:prSet presAssocID="{089C1DFD-F918-4565-BDDC-2356231A8CAB}" presName="thickLine" presStyleLbl="alignNode1" presStyleIdx="1" presStyleCnt="3"/>
      <dgm:spPr/>
    </dgm:pt>
    <dgm:pt modelId="{2FEBFC9D-5997-4341-B420-17AE4C866091}" type="pres">
      <dgm:prSet presAssocID="{089C1DFD-F918-4565-BDDC-2356231A8CAB}" presName="horz1" presStyleCnt="0"/>
      <dgm:spPr/>
    </dgm:pt>
    <dgm:pt modelId="{DD91A3A5-87E0-46C4-932E-4269B9B67F7C}" type="pres">
      <dgm:prSet presAssocID="{089C1DFD-F918-4565-BDDC-2356231A8CAB}" presName="tx1" presStyleLbl="revTx" presStyleIdx="1" presStyleCnt="3"/>
      <dgm:spPr/>
    </dgm:pt>
    <dgm:pt modelId="{13FADAA5-B30C-439F-93D2-50957CB26BA2}" type="pres">
      <dgm:prSet presAssocID="{089C1DFD-F918-4565-BDDC-2356231A8CAB}" presName="vert1" presStyleCnt="0"/>
      <dgm:spPr/>
    </dgm:pt>
    <dgm:pt modelId="{51B21539-887A-4F1F-9C78-A702042D4350}" type="pres">
      <dgm:prSet presAssocID="{F2515159-7B8A-4D30-B01D-27B47BB83514}" presName="thickLine" presStyleLbl="alignNode1" presStyleIdx="2" presStyleCnt="3"/>
      <dgm:spPr/>
    </dgm:pt>
    <dgm:pt modelId="{5CBA2503-BF2C-4A4E-B279-08678925E2DD}" type="pres">
      <dgm:prSet presAssocID="{F2515159-7B8A-4D30-B01D-27B47BB83514}" presName="horz1" presStyleCnt="0"/>
      <dgm:spPr/>
    </dgm:pt>
    <dgm:pt modelId="{BFB46DEE-8824-4BC3-9D1E-CC0C2AF59E50}" type="pres">
      <dgm:prSet presAssocID="{F2515159-7B8A-4D30-B01D-27B47BB83514}" presName="tx1" presStyleLbl="revTx" presStyleIdx="2" presStyleCnt="3"/>
      <dgm:spPr/>
    </dgm:pt>
    <dgm:pt modelId="{8E4C8CF3-0D68-4421-BBA7-06A13E0390FA}" type="pres">
      <dgm:prSet presAssocID="{F2515159-7B8A-4D30-B01D-27B47BB83514}" presName="vert1" presStyleCnt="0"/>
      <dgm:spPr/>
    </dgm:pt>
  </dgm:ptLst>
  <dgm:cxnLst>
    <dgm:cxn modelId="{E4583E07-263E-4DC5-B602-AF193A370DF9}" type="presOf" srcId="{F3319D50-410A-4F52-81EC-3FC2FB5BAC8A}" destId="{ACAC8163-5431-4823-8539-C7BB9650788A}" srcOrd="0" destOrd="0" presId="urn:microsoft.com/office/officeart/2008/layout/LinedList"/>
    <dgm:cxn modelId="{0EBA084F-8183-436F-8F9D-BBF39384AA99}" type="presOf" srcId="{089C1DFD-F918-4565-BDDC-2356231A8CAB}" destId="{DD91A3A5-87E0-46C4-932E-4269B9B67F7C}" srcOrd="0" destOrd="0" presId="urn:microsoft.com/office/officeart/2008/layout/LinedList"/>
    <dgm:cxn modelId="{C8462D51-685E-4823-A9C9-4030DFAFA41C}" srcId="{F3319D50-410A-4F52-81EC-3FC2FB5BAC8A}" destId="{089C1DFD-F918-4565-BDDC-2356231A8CAB}" srcOrd="1" destOrd="0" parTransId="{A7F50448-22E7-47C9-8536-435CD26DEE0E}" sibTransId="{16420C07-EEF9-4A1A-8572-F82B8D981C48}"/>
    <dgm:cxn modelId="{B8BF9D80-95C7-436D-83A7-4FAC31B56A6F}" type="presOf" srcId="{895A740E-0E1E-450E-A3AF-D48A72620954}" destId="{F0B27243-96A4-4774-87B1-01175857DAB5}" srcOrd="0" destOrd="0" presId="urn:microsoft.com/office/officeart/2008/layout/LinedList"/>
    <dgm:cxn modelId="{66F493A1-61EC-45D9-8042-126A9AF98D81}" srcId="{F3319D50-410A-4F52-81EC-3FC2FB5BAC8A}" destId="{F2515159-7B8A-4D30-B01D-27B47BB83514}" srcOrd="2" destOrd="0" parTransId="{71445B76-BEDF-478C-981D-FA99CCAC1027}" sibTransId="{F6238945-95E3-4004-AE73-E4D5119E6131}"/>
    <dgm:cxn modelId="{F8C1E0AB-F185-4ECD-A1BD-9535AA53814D}" type="presOf" srcId="{F2515159-7B8A-4D30-B01D-27B47BB83514}" destId="{BFB46DEE-8824-4BC3-9D1E-CC0C2AF59E50}" srcOrd="0" destOrd="0" presId="urn:microsoft.com/office/officeart/2008/layout/LinedList"/>
    <dgm:cxn modelId="{924E92EF-6EAA-4123-84F0-404879CF95F6}" srcId="{F3319D50-410A-4F52-81EC-3FC2FB5BAC8A}" destId="{895A740E-0E1E-450E-A3AF-D48A72620954}" srcOrd="0" destOrd="0" parTransId="{618FD937-D0F7-47F6-B9B9-C528C12BCD5D}" sibTransId="{6BDD8447-CDAA-4E95-9388-F6303DE93F9D}"/>
    <dgm:cxn modelId="{9E069FF9-B802-4F21-8ADC-79CAFE09509A}" type="presParOf" srcId="{ACAC8163-5431-4823-8539-C7BB9650788A}" destId="{D4296A85-DEC8-4F5C-8929-C92D02B9E22A}" srcOrd="0" destOrd="0" presId="urn:microsoft.com/office/officeart/2008/layout/LinedList"/>
    <dgm:cxn modelId="{883AD8BA-A54B-43A3-9095-E66D3A717A90}" type="presParOf" srcId="{ACAC8163-5431-4823-8539-C7BB9650788A}" destId="{1E0FA92C-82FC-441B-9312-06BBBD89CE65}" srcOrd="1" destOrd="0" presId="urn:microsoft.com/office/officeart/2008/layout/LinedList"/>
    <dgm:cxn modelId="{4BEE6FC3-C690-41FE-9372-D6AFD813050C}" type="presParOf" srcId="{1E0FA92C-82FC-441B-9312-06BBBD89CE65}" destId="{F0B27243-96A4-4774-87B1-01175857DAB5}" srcOrd="0" destOrd="0" presId="urn:microsoft.com/office/officeart/2008/layout/LinedList"/>
    <dgm:cxn modelId="{713970CF-D9F5-43D5-ACA4-A563C61477ED}" type="presParOf" srcId="{1E0FA92C-82FC-441B-9312-06BBBD89CE65}" destId="{83F61DDE-F1D6-4EEC-9261-405B09B40AF2}" srcOrd="1" destOrd="0" presId="urn:microsoft.com/office/officeart/2008/layout/LinedList"/>
    <dgm:cxn modelId="{C645FCE9-DFDE-430F-873A-75C119DCA1D2}" type="presParOf" srcId="{ACAC8163-5431-4823-8539-C7BB9650788A}" destId="{8E073050-F311-42A1-A375-BCB7999ABC8A}" srcOrd="2" destOrd="0" presId="urn:microsoft.com/office/officeart/2008/layout/LinedList"/>
    <dgm:cxn modelId="{81E67DBE-1D08-4002-91FE-19813C634FDA}" type="presParOf" srcId="{ACAC8163-5431-4823-8539-C7BB9650788A}" destId="{2FEBFC9D-5997-4341-B420-17AE4C866091}" srcOrd="3" destOrd="0" presId="urn:microsoft.com/office/officeart/2008/layout/LinedList"/>
    <dgm:cxn modelId="{D7C7CC3A-34A3-4604-95B1-D9B5B0E00F1B}" type="presParOf" srcId="{2FEBFC9D-5997-4341-B420-17AE4C866091}" destId="{DD91A3A5-87E0-46C4-932E-4269B9B67F7C}" srcOrd="0" destOrd="0" presId="urn:microsoft.com/office/officeart/2008/layout/LinedList"/>
    <dgm:cxn modelId="{260BAC76-EEE0-40F2-9E66-4E03F0B98EBD}" type="presParOf" srcId="{2FEBFC9D-5997-4341-B420-17AE4C866091}" destId="{13FADAA5-B30C-439F-93D2-50957CB26BA2}" srcOrd="1" destOrd="0" presId="urn:microsoft.com/office/officeart/2008/layout/LinedList"/>
    <dgm:cxn modelId="{EFBB7FAA-369C-49CF-89BB-A7AA4D40B7DB}" type="presParOf" srcId="{ACAC8163-5431-4823-8539-C7BB9650788A}" destId="{51B21539-887A-4F1F-9C78-A702042D4350}" srcOrd="4" destOrd="0" presId="urn:microsoft.com/office/officeart/2008/layout/LinedList"/>
    <dgm:cxn modelId="{CDD90ECA-8253-4D33-AAD0-42CB9CA96D44}" type="presParOf" srcId="{ACAC8163-5431-4823-8539-C7BB9650788A}" destId="{5CBA2503-BF2C-4A4E-B279-08678925E2DD}" srcOrd="5" destOrd="0" presId="urn:microsoft.com/office/officeart/2008/layout/LinedList"/>
    <dgm:cxn modelId="{C3122638-F3EB-408E-AEE5-F63C22FD8861}" type="presParOf" srcId="{5CBA2503-BF2C-4A4E-B279-08678925E2DD}" destId="{BFB46DEE-8824-4BC3-9D1E-CC0C2AF59E50}" srcOrd="0" destOrd="0" presId="urn:microsoft.com/office/officeart/2008/layout/LinedList"/>
    <dgm:cxn modelId="{0BA97A3A-E416-4EED-B9B5-F323F0A44050}" type="presParOf" srcId="{5CBA2503-BF2C-4A4E-B279-08678925E2DD}" destId="{8E4C8CF3-0D68-4421-BBA7-06A13E0390F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BAB8D6-337B-4B36-94C4-36971D39BDF9}">
      <dsp:nvSpPr>
        <dsp:cNvPr id="0" name=""/>
        <dsp:cNvSpPr/>
      </dsp:nvSpPr>
      <dsp:spPr>
        <a:xfrm>
          <a:off x="752566" y="1045320"/>
          <a:ext cx="1066720" cy="10667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E0E2D3-E02E-46F6-97FA-C68A41981B58}">
      <dsp:nvSpPr>
        <dsp:cNvPr id="0" name=""/>
        <dsp:cNvSpPr/>
      </dsp:nvSpPr>
      <dsp:spPr>
        <a:xfrm>
          <a:off x="100682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/>
            <a:t>Goal:</a:t>
          </a:r>
          <a:endParaRPr lang="en-US" sz="1200" kern="1200"/>
        </a:p>
      </dsp:txBody>
      <dsp:txXfrm>
        <a:off x="100682" y="2427484"/>
        <a:ext cx="2370489" cy="720000"/>
      </dsp:txXfrm>
    </dsp:sp>
    <dsp:sp modelId="{44627284-5563-4DD7-A68D-0E5CA6EA7D46}">
      <dsp:nvSpPr>
        <dsp:cNvPr id="0" name=""/>
        <dsp:cNvSpPr/>
      </dsp:nvSpPr>
      <dsp:spPr>
        <a:xfrm>
          <a:off x="3537891" y="1045320"/>
          <a:ext cx="1066720" cy="10667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1EEEA3-8D9E-4489-B856-F349E7DE959A}">
      <dsp:nvSpPr>
        <dsp:cNvPr id="0" name=""/>
        <dsp:cNvSpPr/>
      </dsp:nvSpPr>
      <dsp:spPr>
        <a:xfrm>
          <a:off x="2886007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/>
            <a:t>Analyze global Data Science salary trends (2020–2025).</a:t>
          </a:r>
          <a:endParaRPr lang="en-US" sz="1200" kern="1200"/>
        </a:p>
      </dsp:txBody>
      <dsp:txXfrm>
        <a:off x="2886007" y="2427484"/>
        <a:ext cx="2370489" cy="720000"/>
      </dsp:txXfrm>
    </dsp:sp>
    <dsp:sp modelId="{F770F13C-0EB5-4478-A023-AA11C1A430B6}">
      <dsp:nvSpPr>
        <dsp:cNvPr id="0" name=""/>
        <dsp:cNvSpPr/>
      </dsp:nvSpPr>
      <dsp:spPr>
        <a:xfrm>
          <a:off x="6323216" y="1045320"/>
          <a:ext cx="1066720" cy="10667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F2DFB0-3002-4319-99E9-24217991FB2C}">
      <dsp:nvSpPr>
        <dsp:cNvPr id="0" name=""/>
        <dsp:cNvSpPr/>
      </dsp:nvSpPr>
      <dsp:spPr>
        <a:xfrm>
          <a:off x="5671332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/>
            <a:t>Compare </a:t>
          </a:r>
          <a:r>
            <a:rPr lang="en-IN" sz="1200" b="1" kern="1200"/>
            <a:t>Regularized Linear Models (Ridge, Lasso, ElasticNet)</a:t>
          </a:r>
          <a:r>
            <a:rPr lang="en-IN" sz="1200" kern="1200"/>
            <a:t> vs </a:t>
          </a:r>
          <a:r>
            <a:rPr lang="en-IN" sz="1200" b="1" kern="1200"/>
            <a:t>Non-Linear Models (Random Forest, XGBoost)</a:t>
          </a:r>
          <a:r>
            <a:rPr lang="en-IN" sz="1200" kern="1200"/>
            <a:t>.</a:t>
          </a:r>
          <a:endParaRPr lang="en-US" sz="1200" kern="1200"/>
        </a:p>
      </dsp:txBody>
      <dsp:txXfrm>
        <a:off x="5671332" y="2427484"/>
        <a:ext cx="2370489" cy="720000"/>
      </dsp:txXfrm>
    </dsp:sp>
    <dsp:sp modelId="{D268BA25-8F48-493E-BD18-0C02A3F4EA6D}">
      <dsp:nvSpPr>
        <dsp:cNvPr id="0" name=""/>
        <dsp:cNvSpPr/>
      </dsp:nvSpPr>
      <dsp:spPr>
        <a:xfrm>
          <a:off x="9108541" y="1045320"/>
          <a:ext cx="1066720" cy="106672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CBB6EA-EA1D-4FEF-BE00-7A923FB525B7}">
      <dsp:nvSpPr>
        <dsp:cNvPr id="0" name=""/>
        <dsp:cNvSpPr/>
      </dsp:nvSpPr>
      <dsp:spPr>
        <a:xfrm>
          <a:off x="8456657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/>
            <a:t>Identify strongest </a:t>
          </a:r>
          <a:r>
            <a:rPr lang="en-IN" sz="1200" b="1" kern="1200"/>
            <a:t>salary-driving features</a:t>
          </a:r>
          <a:r>
            <a:rPr lang="en-IN" sz="1200" kern="1200"/>
            <a:t> (seniority, work mode, location, etc.).</a:t>
          </a:r>
          <a:endParaRPr lang="en-US" sz="1200" kern="1200"/>
        </a:p>
      </dsp:txBody>
      <dsp:txXfrm>
        <a:off x="8456657" y="2427484"/>
        <a:ext cx="2370489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49BCDA-0B8F-412A-9E12-812B64936E79}">
      <dsp:nvSpPr>
        <dsp:cNvPr id="0" name=""/>
        <dsp:cNvSpPr/>
      </dsp:nvSpPr>
      <dsp:spPr>
        <a:xfrm>
          <a:off x="0" y="682"/>
          <a:ext cx="6245265" cy="159656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9135B8-88B6-47A7-82C5-0EA61B48BC0C}">
      <dsp:nvSpPr>
        <dsp:cNvPr id="0" name=""/>
        <dsp:cNvSpPr/>
      </dsp:nvSpPr>
      <dsp:spPr>
        <a:xfrm>
          <a:off x="482961" y="359909"/>
          <a:ext cx="878111" cy="87811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1E6D5A-4FFC-4623-85A4-5335DC33CC8C}">
      <dsp:nvSpPr>
        <dsp:cNvPr id="0" name=""/>
        <dsp:cNvSpPr/>
      </dsp:nvSpPr>
      <dsp:spPr>
        <a:xfrm>
          <a:off x="1844034" y="682"/>
          <a:ext cx="4401230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Remote ratio rose sharply after 2020, stabilizing after 2023.</a:t>
          </a:r>
          <a:endParaRPr lang="en-US" sz="2200" kern="1200"/>
        </a:p>
      </dsp:txBody>
      <dsp:txXfrm>
        <a:off x="1844034" y="682"/>
        <a:ext cx="4401230" cy="1596566"/>
      </dsp:txXfrm>
    </dsp:sp>
    <dsp:sp modelId="{2446EC83-2AE6-452F-93DB-17D0021E3863}">
      <dsp:nvSpPr>
        <dsp:cNvPr id="0" name=""/>
        <dsp:cNvSpPr/>
      </dsp:nvSpPr>
      <dsp:spPr>
        <a:xfrm>
          <a:off x="0" y="1996390"/>
          <a:ext cx="6245265" cy="159656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0DFE44-B4E8-41C5-B3CB-6BC5257FCC6A}">
      <dsp:nvSpPr>
        <dsp:cNvPr id="0" name=""/>
        <dsp:cNvSpPr/>
      </dsp:nvSpPr>
      <dsp:spPr>
        <a:xfrm>
          <a:off x="482961" y="2355617"/>
          <a:ext cx="878111" cy="87811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8F2431-06BF-4924-92AD-4574052A4615}">
      <dsp:nvSpPr>
        <dsp:cNvPr id="0" name=""/>
        <dsp:cNvSpPr/>
      </dsp:nvSpPr>
      <dsp:spPr>
        <a:xfrm>
          <a:off x="1844034" y="1996390"/>
          <a:ext cx="4401230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Salary gaps exist across regions — U.S. highest average.</a:t>
          </a:r>
          <a:endParaRPr lang="en-US" sz="2200" kern="1200"/>
        </a:p>
      </dsp:txBody>
      <dsp:txXfrm>
        <a:off x="1844034" y="1996390"/>
        <a:ext cx="4401230" cy="1596566"/>
      </dsp:txXfrm>
    </dsp:sp>
    <dsp:sp modelId="{6A0FDD29-CC63-4D36-8AC7-A1FDD84569F5}">
      <dsp:nvSpPr>
        <dsp:cNvPr id="0" name=""/>
        <dsp:cNvSpPr/>
      </dsp:nvSpPr>
      <dsp:spPr>
        <a:xfrm>
          <a:off x="0" y="3992098"/>
          <a:ext cx="6245265" cy="1596566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46095A-FF9D-4EB4-A0F8-6EE78F04F9A7}">
      <dsp:nvSpPr>
        <dsp:cNvPr id="0" name=""/>
        <dsp:cNvSpPr/>
      </dsp:nvSpPr>
      <dsp:spPr>
        <a:xfrm>
          <a:off x="482961" y="4351325"/>
          <a:ext cx="878111" cy="87811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1375D8-5AB5-4E76-BC4F-5E5488E0FD57}">
      <dsp:nvSpPr>
        <dsp:cNvPr id="0" name=""/>
        <dsp:cNvSpPr/>
      </dsp:nvSpPr>
      <dsp:spPr>
        <a:xfrm>
          <a:off x="1844034" y="3992098"/>
          <a:ext cx="4401230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Correlation heatmap shows strong link between </a:t>
          </a:r>
          <a:r>
            <a:rPr lang="en-US" sz="2200" b="1" i="0" kern="1200" baseline="0"/>
            <a:t>experience level</a:t>
          </a:r>
          <a:r>
            <a:rPr lang="en-US" sz="2200" b="0" i="0" kern="1200" baseline="0"/>
            <a:t>, </a:t>
          </a:r>
          <a:r>
            <a:rPr lang="en-US" sz="2200" b="1" i="0" kern="1200" baseline="0"/>
            <a:t>company size</a:t>
          </a:r>
          <a:r>
            <a:rPr lang="en-US" sz="2200" b="0" i="0" kern="1200" baseline="0"/>
            <a:t>, and </a:t>
          </a:r>
          <a:r>
            <a:rPr lang="en-US" sz="2200" b="1" i="0" kern="1200" baseline="0"/>
            <a:t>salary</a:t>
          </a:r>
          <a:r>
            <a:rPr lang="en-US" sz="2200" b="0" i="0" kern="1200" baseline="0"/>
            <a:t>.</a:t>
          </a:r>
          <a:endParaRPr lang="en-US" sz="2200" kern="1200"/>
        </a:p>
      </dsp:txBody>
      <dsp:txXfrm>
        <a:off x="1844034" y="3992098"/>
        <a:ext cx="4401230" cy="159656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EA34D8-C0D6-49E3-83BE-F2E5D03B2EDD}">
      <dsp:nvSpPr>
        <dsp:cNvPr id="0" name=""/>
        <dsp:cNvSpPr/>
      </dsp:nvSpPr>
      <dsp:spPr>
        <a:xfrm>
          <a:off x="3367512" y="0"/>
          <a:ext cx="4192805" cy="4192805"/>
        </a:xfrm>
        <a:prstGeom prst="quadArrow">
          <a:avLst>
            <a:gd name="adj1" fmla="val 2000"/>
            <a:gd name="adj2" fmla="val 4000"/>
            <a:gd name="adj3" fmla="val 5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215A52-A69C-4FF2-BDA7-A1B0FCF4B5C8}">
      <dsp:nvSpPr>
        <dsp:cNvPr id="0" name=""/>
        <dsp:cNvSpPr/>
      </dsp:nvSpPr>
      <dsp:spPr>
        <a:xfrm>
          <a:off x="3640044" y="272532"/>
          <a:ext cx="1677122" cy="1677122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Regularized models:</a:t>
          </a:r>
          <a:r>
            <a:rPr lang="en-US" sz="1400" kern="1200"/>
            <a:t> Easier to interpret, capture direct linear trends.</a:t>
          </a:r>
        </a:p>
      </dsp:txBody>
      <dsp:txXfrm>
        <a:off x="3721914" y="354402"/>
        <a:ext cx="1513382" cy="1513382"/>
      </dsp:txXfrm>
    </dsp:sp>
    <dsp:sp modelId="{F9087012-3F1D-4423-AA60-C3DC74738439}">
      <dsp:nvSpPr>
        <dsp:cNvPr id="0" name=""/>
        <dsp:cNvSpPr/>
      </dsp:nvSpPr>
      <dsp:spPr>
        <a:xfrm>
          <a:off x="5610662" y="272532"/>
          <a:ext cx="1677122" cy="1677122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Non-linear models:</a:t>
          </a:r>
          <a:r>
            <a:rPr lang="en-US" sz="1400" kern="1200"/>
            <a:t> Capture complex interactions → higher accuracy.</a:t>
          </a:r>
        </a:p>
      </dsp:txBody>
      <dsp:txXfrm>
        <a:off x="5692532" y="354402"/>
        <a:ext cx="1513382" cy="1513382"/>
      </dsp:txXfrm>
    </dsp:sp>
    <dsp:sp modelId="{3A50B812-FA8E-494C-BC92-E82FAA7BBA36}">
      <dsp:nvSpPr>
        <dsp:cNvPr id="0" name=""/>
        <dsp:cNvSpPr/>
      </dsp:nvSpPr>
      <dsp:spPr>
        <a:xfrm>
          <a:off x="3640044" y="2243150"/>
          <a:ext cx="1677122" cy="1677122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Salary evolution:</a:t>
          </a:r>
          <a:r>
            <a:rPr lang="en-US" sz="1400" kern="1200"/>
            <a:t> 2020–2024 rapid growth; 2025 slight correction.</a:t>
          </a:r>
        </a:p>
      </dsp:txBody>
      <dsp:txXfrm>
        <a:off x="3721914" y="2325020"/>
        <a:ext cx="1513382" cy="1513382"/>
      </dsp:txXfrm>
    </dsp:sp>
    <dsp:sp modelId="{9C57C4C8-0549-4AE1-B4A8-CE7C709024E4}">
      <dsp:nvSpPr>
        <dsp:cNvPr id="0" name=""/>
        <dsp:cNvSpPr/>
      </dsp:nvSpPr>
      <dsp:spPr>
        <a:xfrm>
          <a:off x="5610662" y="2243150"/>
          <a:ext cx="1677122" cy="1677122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Top salary factors:</a:t>
          </a:r>
          <a:r>
            <a:rPr lang="en-US" sz="1400" kern="1200"/>
            <a:t> Seniority, company size, role type, work setting, and country.</a:t>
          </a:r>
        </a:p>
      </dsp:txBody>
      <dsp:txXfrm>
        <a:off x="5692532" y="2325020"/>
        <a:ext cx="1513382" cy="151338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5D6B8D-73EE-4A10-A562-449A3A6C519D}">
      <dsp:nvSpPr>
        <dsp:cNvPr id="0" name=""/>
        <dsp:cNvSpPr/>
      </dsp:nvSpPr>
      <dsp:spPr>
        <a:xfrm>
          <a:off x="1283" y="1424738"/>
          <a:ext cx="3003723" cy="150186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9055" tIns="39370" rIns="59055" bIns="3937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Hyper Parameter Tuning.</a:t>
          </a:r>
        </a:p>
      </dsp:txBody>
      <dsp:txXfrm>
        <a:off x="45271" y="1468726"/>
        <a:ext cx="2915747" cy="1413885"/>
      </dsp:txXfrm>
    </dsp:sp>
    <dsp:sp modelId="{C19B5A60-68DA-433B-B74A-134E778011EA}">
      <dsp:nvSpPr>
        <dsp:cNvPr id="0" name=""/>
        <dsp:cNvSpPr/>
      </dsp:nvSpPr>
      <dsp:spPr>
        <a:xfrm>
          <a:off x="3755938" y="1424738"/>
          <a:ext cx="3003723" cy="150186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3221807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7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7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9055" tIns="39370" rIns="59055" bIns="3937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Apply SHAP analysis for interpretability.</a:t>
          </a:r>
        </a:p>
      </dsp:txBody>
      <dsp:txXfrm>
        <a:off x="3799926" y="1468726"/>
        <a:ext cx="2915747" cy="1413885"/>
      </dsp:txXfrm>
    </dsp:sp>
    <dsp:sp modelId="{339E8356-98B9-46B6-AF43-27EADBB56FD1}">
      <dsp:nvSpPr>
        <dsp:cNvPr id="0" name=""/>
        <dsp:cNvSpPr/>
      </dsp:nvSpPr>
      <dsp:spPr>
        <a:xfrm>
          <a:off x="7510592" y="1424738"/>
          <a:ext cx="3003723" cy="150186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9055" tIns="39370" rIns="59055" bIns="3937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100" kern="1200"/>
            <a:t>FPR</a:t>
          </a:r>
          <a:endParaRPr lang="en-US" sz="3100" kern="1200"/>
        </a:p>
      </dsp:txBody>
      <dsp:txXfrm>
        <a:off x="7554580" y="1468726"/>
        <a:ext cx="2915747" cy="141388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296A85-DEC8-4F5C-8929-C92D02B9E22A}">
      <dsp:nvSpPr>
        <dsp:cNvPr id="0" name=""/>
        <dsp:cNvSpPr/>
      </dsp:nvSpPr>
      <dsp:spPr>
        <a:xfrm>
          <a:off x="0" y="2124"/>
          <a:ext cx="10515600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0B27243-96A4-4774-87B1-01175857DAB5}">
      <dsp:nvSpPr>
        <dsp:cNvPr id="0" name=""/>
        <dsp:cNvSpPr/>
      </dsp:nvSpPr>
      <dsp:spPr>
        <a:xfrm>
          <a:off x="0" y="2124"/>
          <a:ext cx="10515600" cy="1449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 dirty="0"/>
            <a:t>Rahhal, I., et al., 2024. </a:t>
          </a:r>
          <a:r>
            <a:rPr lang="en-US" sz="2400" b="0" i="1" kern="1200" baseline="0" dirty="0"/>
            <a:t>Data science for job market analysis: A survey on </a:t>
          </a:r>
          <a:r>
            <a:rPr lang="en-US" sz="2400" b="0" i="1" kern="1200" baseline="0" dirty="0" err="1"/>
            <a:t>labour</a:t>
          </a:r>
          <a:r>
            <a:rPr lang="en-US" sz="2400" b="0" i="1" kern="1200" baseline="0" dirty="0"/>
            <a:t> market analytics</a:t>
          </a:r>
          <a:r>
            <a:rPr lang="en-US" sz="2400" b="0" i="0" kern="1200" baseline="0" dirty="0"/>
            <a:t>. </a:t>
          </a:r>
          <a:r>
            <a:rPr lang="en-US" sz="2400" b="0" i="1" kern="1200" baseline="0" dirty="0"/>
            <a:t>Expert Systems with Applications</a:t>
          </a:r>
          <a:r>
            <a:rPr lang="en-US" sz="2400" b="0" i="0" kern="1200" baseline="0" dirty="0"/>
            <a:t>: </a:t>
          </a:r>
          <a:r>
            <a:rPr lang="en-IN" sz="2400" b="0" i="0" kern="1200" baseline="0" dirty="0">
              <a:hlinkClick xmlns:r="http://schemas.openxmlformats.org/officeDocument/2006/relationships" r:id="rId1"/>
            </a:rPr>
            <a:t>https://www.sciencedirect.com/science/article/abs/pii/S0957417424009679</a:t>
          </a:r>
          <a:endParaRPr lang="en-US" sz="2400" kern="1200" dirty="0"/>
        </a:p>
      </dsp:txBody>
      <dsp:txXfrm>
        <a:off x="0" y="2124"/>
        <a:ext cx="10515600" cy="1449029"/>
      </dsp:txXfrm>
    </dsp:sp>
    <dsp:sp modelId="{8E073050-F311-42A1-A375-BCB7999ABC8A}">
      <dsp:nvSpPr>
        <dsp:cNvPr id="0" name=""/>
        <dsp:cNvSpPr/>
      </dsp:nvSpPr>
      <dsp:spPr>
        <a:xfrm>
          <a:off x="0" y="1451154"/>
          <a:ext cx="10515600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D91A3A5-87E0-46C4-932E-4269B9B67F7C}">
      <dsp:nvSpPr>
        <dsp:cNvPr id="0" name=""/>
        <dsp:cNvSpPr/>
      </dsp:nvSpPr>
      <dsp:spPr>
        <a:xfrm>
          <a:off x="0" y="1451154"/>
          <a:ext cx="10515600" cy="1449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 dirty="0"/>
            <a:t>Bone, M., Ehlinger, E. &amp; Stephany, F., 2023. </a:t>
          </a:r>
          <a:r>
            <a:rPr lang="en-US" sz="2400" b="0" i="1" kern="1200" baseline="0" dirty="0"/>
            <a:t>Skills or Degree? The Rise of Skill-Based Hiring for AI and Green Jobs</a:t>
          </a:r>
          <a:r>
            <a:rPr lang="en-US" sz="2400" b="0" i="0" kern="1200" baseline="0" dirty="0"/>
            <a:t>. </a:t>
          </a:r>
          <a:r>
            <a:rPr lang="en-US" sz="2400" b="0" i="0" kern="1200" baseline="0" dirty="0" err="1"/>
            <a:t>arXiv</a:t>
          </a:r>
          <a:r>
            <a:rPr lang="en-US" sz="2400" b="0" i="0" kern="1200" baseline="0" dirty="0"/>
            <a:t> [preprint] arXiv:2312.11942:  </a:t>
          </a:r>
          <a:r>
            <a:rPr lang="en-US" sz="2400" b="0" i="0" kern="1200" baseline="0" dirty="0">
              <a:hlinkClick xmlns:r="http://schemas.openxmlformats.org/officeDocument/2006/relationships" r:id="rId2"/>
            </a:rPr>
            <a:t>https://arxiv.org/abs/2312.11942</a:t>
          </a:r>
          <a:endParaRPr lang="en-US" sz="2400" kern="1200" dirty="0"/>
        </a:p>
      </dsp:txBody>
      <dsp:txXfrm>
        <a:off x="0" y="1451154"/>
        <a:ext cx="10515600" cy="1449029"/>
      </dsp:txXfrm>
    </dsp:sp>
    <dsp:sp modelId="{51B21539-887A-4F1F-9C78-A702042D4350}">
      <dsp:nvSpPr>
        <dsp:cNvPr id="0" name=""/>
        <dsp:cNvSpPr/>
      </dsp:nvSpPr>
      <dsp:spPr>
        <a:xfrm>
          <a:off x="0" y="2900183"/>
          <a:ext cx="10515600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FB46DEE-8824-4BC3-9D1E-CC0C2AF59E50}">
      <dsp:nvSpPr>
        <dsp:cNvPr id="0" name=""/>
        <dsp:cNvSpPr/>
      </dsp:nvSpPr>
      <dsp:spPr>
        <a:xfrm>
          <a:off x="0" y="2900183"/>
          <a:ext cx="10515600" cy="1449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 dirty="0"/>
            <a:t>Stephany, F., Mira, A. &amp; Bone, M., 2025. </a:t>
          </a:r>
          <a:r>
            <a:rPr lang="en-US" sz="2400" b="0" i="1" kern="1200" baseline="0" dirty="0"/>
            <a:t>Beyond pay: AI skills reward more job benefits</a:t>
          </a:r>
          <a:r>
            <a:rPr lang="en-US" sz="2400" b="0" i="0" kern="1200" baseline="0" dirty="0"/>
            <a:t>. </a:t>
          </a:r>
          <a:r>
            <a:rPr lang="en-US" sz="2400" b="0" i="0" kern="1200" baseline="0" dirty="0" err="1"/>
            <a:t>arXiv</a:t>
          </a:r>
          <a:r>
            <a:rPr lang="en-US" sz="2400" b="0" i="0" kern="1200" baseline="0" dirty="0"/>
            <a:t> [preprint] arXiv:2507.20410: </a:t>
          </a:r>
          <a:r>
            <a:rPr lang="en-US" sz="2400" b="0" i="0" kern="1200" baseline="0" dirty="0">
              <a:hlinkClick xmlns:r="http://schemas.openxmlformats.org/officeDocument/2006/relationships" r:id="rId3"/>
            </a:rPr>
            <a:t>https://arxiv.org/abs/2507.20410</a:t>
          </a:r>
          <a:endParaRPr lang="en-US" sz="2400" kern="1200" dirty="0"/>
        </a:p>
      </dsp:txBody>
      <dsp:txXfrm>
        <a:off x="0" y="2900183"/>
        <a:ext cx="10515600" cy="144902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matrix2">
  <dgm:title val=""/>
  <dgm:desc val=""/>
  <dgm:catLst>
    <dgm:cat type="matrix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l" for="ch" forName="rect1" refType="w" fact="0.065"/>
          <dgm:constr type="t" for="ch" forName="rect1" refType="h" fact="0.065"/>
          <dgm:constr type="w" for="ch" forName="rect2" refType="w" fact="0.4"/>
          <dgm:constr type="h" for="ch" forName="rect2" refType="h" fact="0.4"/>
          <dgm:constr type="r" for="ch" forName="rect2" refType="w" fact="0.935"/>
          <dgm:constr type="t" for="ch" forName="rect2" refType="h" fact="0.065"/>
          <dgm:constr type="w" for="ch" forName="rect3" refType="w" fact="0.4"/>
          <dgm:constr type="h" for="ch" forName="rect3" refType="w" fact="0.4"/>
          <dgm:constr type="l" for="ch" forName="rect3" refType="w" fact="0.065"/>
          <dgm:constr type="b" for="ch" forName="rect3" refType="h" fact="0.935"/>
          <dgm:constr type="w" for="ch" forName="rect4" refType="w" fact="0.4"/>
          <dgm:constr type="h" for="ch" forName="rect4" refType="h" fact="0.4"/>
          <dgm:constr type="r" for="ch" forName="rect4" refType="w" fact="0.935"/>
          <dgm:constr type="b" for="ch" forName="rect4" refType="h" fact="0.935"/>
        </dgm:constrLst>
      </dgm:if>
      <dgm:else name="Name2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r" for="ch" forName="rect1" refType="w" fact="0.935"/>
          <dgm:constr type="t" for="ch" forName="rect1" refType="h" fact="0.065"/>
          <dgm:constr type="w" for="ch" forName="rect2" refType="w" fact="0.4"/>
          <dgm:constr type="h" for="ch" forName="rect2" refType="h" fact="0.4"/>
          <dgm:constr type="l" for="ch" forName="rect2" refType="w" fact="0.065"/>
          <dgm:constr type="t" for="ch" forName="rect2" refType="h" fact="0.065"/>
          <dgm:constr type="w" for="ch" forName="rect3" refType="w" fact="0.4"/>
          <dgm:constr type="h" for="ch" forName="rect3" refType="w" fact="0.4"/>
          <dgm:constr type="r" for="ch" forName="rect3" refType="w" fact="0.935"/>
          <dgm:constr type="b" for="ch" forName="rect3" refType="h" fact="0.935"/>
          <dgm:constr type="w" for="ch" forName="rect4" refType="w" fact="0.4"/>
          <dgm:constr type="h" for="ch" forName="rect4" refType="h" fact="0.4"/>
          <dgm:constr type="l" for="ch" forName="rect4" refType="w" fact="0.065"/>
          <dgm:constr type="b" for="ch" forName="rect4" refType="h" fact="0.935"/>
        </dgm:constrLst>
      </dgm:else>
    </dgm:choose>
    <dgm:ruleLst/>
    <dgm:choose name="Name3">
      <dgm:if name="Name4" axis="ch" ptType="node" func="cnt" op="gte" val="1">
        <dgm:layoutNode name="axisShape" styleLbl="bgShp">
          <dgm:alg type="sp"/>
          <dgm:shape xmlns:r="http://schemas.openxmlformats.org/officeDocument/2006/relationships" type="quadArrow" r:blip="">
            <dgm:adjLst>
              <dgm:adj idx="1" val="0.02"/>
              <dgm:adj idx="2" val="0.04"/>
              <dgm:adj idx="3" val="0.05"/>
            </dgm:adjLst>
          </dgm:shape>
          <dgm:presOf/>
          <dgm:constrLst/>
          <dgm:ruleLst/>
        </dgm:layoutNode>
        <dgm:layoutNode name="rect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B7627-C844-2370-2E04-D77665F3E9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6E6AD2-122D-A0B3-CEF5-B27BA44BCF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E8C0CB-795B-1EBC-32B1-36C2B08DF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EBF08-8960-4FC7-BF59-B1F313BA3B96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4F6619-037C-C2C0-FE70-5B18BC096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5DAD27-952F-2D79-EADB-C3825D09D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3388A-1DBE-4A1E-92D1-5813E2FE3D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20604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F4165-0B7B-1604-C9C9-0251D0D48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53C8C9-EBA8-2915-2B6C-17F1A70AE3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0A5A21-F40B-275A-7B23-E0DE7F944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EBF08-8960-4FC7-BF59-B1F313BA3B96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3A857E-F1FE-E131-A564-145B1DA3D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AC43BC-EDFC-F587-66B5-4DA5B54A0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3388A-1DBE-4A1E-92D1-5813E2FE3D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90119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7EEE3-FBA5-1CC1-4FA7-11E82DB48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17F426-83A5-8107-8F81-06295B39F9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C60D6D-6AAE-C6FB-F1DE-2C4E81B89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EBF08-8960-4FC7-BF59-B1F313BA3B96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A3FDBE-765D-E535-31FB-1BB154013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35A2F4-CAB3-2C12-9E03-DCA3A4368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3388A-1DBE-4A1E-92D1-5813E2FE3D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20867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69600-C0F1-95E3-C497-F4BE0DACA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DA3E3D-B29A-A495-2A8D-A44136D503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2AEF5B-C9F6-482F-AAE8-FCED986B41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BACE8B-700F-0C2D-5945-C1DB8F174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EBF08-8960-4FC7-BF59-B1F313BA3B96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849F5A-01F8-C059-BFA2-59FB83625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E93920-3E77-7052-C915-CD222F51A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3388A-1DBE-4A1E-92D1-5813E2FE3D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97937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F7A6A-C2E3-A4FF-B1EC-D342214BC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CAF8AD-3D3D-3052-E5C3-595FB29FDF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EE1D9E-F9B3-F283-F6C4-CA9AE8816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46981A-D0F9-D5AE-1E49-A9E390560C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52A357-22A3-8636-A1E9-405C657866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E24F35-77EF-C618-44A0-64642E392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EBF08-8960-4FC7-BF59-B1F313BA3B96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1FCC69-FD91-6896-221B-B59962F7F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C385B-532D-1494-616A-F896E8FA3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3388A-1DBE-4A1E-92D1-5813E2FE3D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85506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BC3DC-5787-22E5-8452-19E0767C7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81F180-5833-256D-2AAC-838945A01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EBF08-8960-4FC7-BF59-B1F313BA3B96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824C3A-7B0C-DD1A-02EC-B71B7E596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98B8B5-D548-820B-EB0B-D14DF82FB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3388A-1DBE-4A1E-92D1-5813E2FE3D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0994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8FC15E-C39F-333A-C4A1-092ACCD82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EBF08-8960-4FC7-BF59-B1F313BA3B96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9F895E-A2E5-6D81-18A1-84892C951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646145-8A1E-C49D-6D61-8479B8147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3388A-1DBE-4A1E-92D1-5813E2FE3D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58317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3D13D-317E-3524-3B9C-CC8026465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82D935-4C8A-67F9-5BD3-74DBDE8632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7A4800-A0B6-1AF3-0A5C-55D3D4C769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91A9EB-7343-C825-CA87-F3FEDE991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EBF08-8960-4FC7-BF59-B1F313BA3B96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81FACA-D135-8BA7-B48B-80926C096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F26533-EBD7-7132-8D77-E377FD085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3388A-1DBE-4A1E-92D1-5813E2FE3D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90588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E6879-40F7-9A4B-4ED9-90C410D43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9385F9-4CD3-DA94-4296-DBDD3802F3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B1C2FA-E442-B644-DAEB-CD0A54A82A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D75ADB-567A-7D9C-2D90-491C5392A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EBF08-8960-4FC7-BF59-B1F313BA3B96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5C5B31-14A5-4401-E607-A7FD8646F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CFD3E4-D63E-DA23-758E-F0D32DC7F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3388A-1DBE-4A1E-92D1-5813E2FE3D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78896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94801-BDFE-6E44-06FA-D74EC35F2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D46253-E64A-9B7E-A907-ED1F8CAE27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83E2CC-64E8-4F5A-453C-40D494049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EBF08-8960-4FC7-BF59-B1F313BA3B96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4366CD-E4F3-8966-F196-4037F4E64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A92667-0640-389D-8E19-531D45E49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3388A-1DBE-4A1E-92D1-5813E2FE3D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82659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C0A6FD-ED43-8130-3FD9-977474CC17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4EB41B-2428-34C3-CA30-7A35037698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20FB61-65A9-C9A1-2A7D-C4B56E3D9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EBF08-8960-4FC7-BF59-B1F313BA3B96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003E05-E4B8-D3C7-489A-669B51BD0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9C0E08-F779-9F09-99F6-CC5C20387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3388A-1DBE-4A1E-92D1-5813E2FE3D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1954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16C4A1-C240-C285-DF48-9876CECD8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48DC36-2CA8-2756-072A-6A4B2AB9DC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353164-3F27-0E57-2E91-936AA38E5F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CEBF08-8960-4FC7-BF59-B1F313BA3B96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522128-7419-CF65-C9B5-397F244D11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4746BE-3444-E1F9-E935-10C1FC8F5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73388A-1DBE-4A1E-92D1-5813E2FE3D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08348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gnanesh1303/Final_project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www.kaggle.com/datasets/saurabhbadole/latest-data-science-job-salaries-2024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0AF7BB-AB39-C357-FB95-F18D78FE9D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5767" y="1188637"/>
            <a:ext cx="2988234" cy="44807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3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How Salary Drivers in Data Science Evolved Between 2020–2025: A Comparative Study of Regularized and Non-Linear Models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title 2">
            <a:extLst>
              <a:ext uri="{FF2B5EF4-FFF2-40B4-BE49-F238E27FC236}">
                <a16:creationId xmlns:a16="http://schemas.microsoft.com/office/drawing/2014/main" id="{A70FCFBB-93A1-1B19-BD4D-35AE436026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55260" y="1648870"/>
            <a:ext cx="4702848" cy="356026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/>
              <a:t>Name: Gnanesh Cheedarla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/>
              <a:t>Student ID: 23065307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/>
              <a:t>Supervisor Name: Sugata Kaviraj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/>
              <a:t>Git Hub link: </a:t>
            </a:r>
            <a:r>
              <a:rPr lang="en-US">
                <a:hlinkClick r:id="rId2"/>
              </a:rPr>
              <a:t>https://github.com/gnanesh1303/Final_project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448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C894D1-6DDB-9E36-3645-387AE2FB3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Research Objective</a:t>
            </a:r>
            <a:endParaRPr lang="en-IN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1B14BAD-9FB5-9024-E20D-795C2D78E2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80700206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544929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77071-CA79-E017-6401-C1C5F539D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Dataset Used: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DE7246-64C9-F425-FD26-72B12463DC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2826"/>
            <a:ext cx="10515600" cy="4584137"/>
          </a:xfrm>
        </p:spPr>
        <p:txBody>
          <a:bodyPr>
            <a:normAutofit lnSpcReduction="10000"/>
          </a:bodyPr>
          <a:lstStyle/>
          <a:p>
            <a:r>
              <a:rPr lang="en-IN" i="1" dirty="0"/>
              <a:t>Latest Data Science Job Salaries (2020–2025)</a:t>
            </a:r>
            <a:r>
              <a:rPr lang="en-IN" dirty="0"/>
              <a:t> by </a:t>
            </a:r>
            <a:r>
              <a:rPr lang="en-IN" b="1" dirty="0"/>
              <a:t>Saurabh </a:t>
            </a:r>
            <a:r>
              <a:rPr lang="en-IN" b="1" dirty="0" err="1"/>
              <a:t>Badole</a:t>
            </a:r>
            <a:r>
              <a:rPr lang="en-IN" dirty="0"/>
              <a:t> (Kaggle).</a:t>
            </a:r>
          </a:p>
          <a:p>
            <a:r>
              <a:rPr lang="en-IN" dirty="0"/>
              <a:t>Shape of dataset: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Data Quality:</a:t>
            </a:r>
            <a:endParaRPr lang="en-IN" dirty="0"/>
          </a:p>
          <a:p>
            <a:r>
              <a:rPr lang="en-IN" dirty="0"/>
              <a:t>No missing values.</a:t>
            </a:r>
          </a:p>
          <a:p>
            <a:r>
              <a:rPr lang="en-IN" dirty="0"/>
              <a:t>Covers six years (2020–2025).</a:t>
            </a:r>
          </a:p>
          <a:p>
            <a:r>
              <a:rPr lang="en-IN" dirty="0"/>
              <a:t>Dataset link: </a:t>
            </a:r>
            <a:r>
              <a:rPr lang="en-IN" dirty="0">
                <a:hlinkClick r:id="rId2" tooltip="https://www.kaggle.com/datasets/saurabhbadole/latest-data-science-job-salaries-2024"/>
              </a:rPr>
              <a:t>https://www.kaggle.com/datasets/saurabhbadole/latest-data-science-job-salaries-2024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EB8185-579C-BFC2-50F7-FBE6B4881F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1053" y="2836305"/>
            <a:ext cx="1819529" cy="469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8455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C0C845-0D2F-2493-D385-BC108D6D0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en-US" sz="5400" b="1"/>
              <a:t>Slide 4 – Data Cleaning &amp; Preprocessing</a:t>
            </a:r>
            <a:endParaRPr lang="en-IN" sz="5400"/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2D31DB-BEAC-038C-AA35-707B894E7A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06624"/>
            <a:ext cx="6894576" cy="3483864"/>
          </a:xfrm>
        </p:spPr>
        <p:txBody>
          <a:bodyPr>
            <a:normAutofit/>
          </a:bodyPr>
          <a:lstStyle/>
          <a:p>
            <a:r>
              <a:rPr lang="en-US" sz="2200"/>
              <a:t>Standardized column names.</a:t>
            </a:r>
          </a:p>
          <a:p>
            <a:r>
              <a:rPr lang="en-US" sz="2200"/>
              <a:t>Created new features:</a:t>
            </a:r>
          </a:p>
          <a:p>
            <a:pPr lvl="1"/>
            <a:r>
              <a:rPr lang="en-US" sz="2200"/>
              <a:t>work_setting (Remote / Hybrid / On-site).</a:t>
            </a:r>
          </a:p>
          <a:p>
            <a:pPr lvl="1"/>
            <a:endParaRPr lang="en-US" sz="2200"/>
          </a:p>
          <a:p>
            <a:pPr lvl="1"/>
            <a:r>
              <a:rPr lang="en-US" sz="2200"/>
              <a:t>Simplified categorical levels (title-case).</a:t>
            </a:r>
          </a:p>
          <a:p>
            <a:r>
              <a:rPr lang="en-US" sz="2200"/>
              <a:t>Removed outliers (salary_in_usd &gt; 400,000).</a:t>
            </a:r>
          </a:p>
          <a:p>
            <a:pPr marL="0" indent="0">
              <a:buNone/>
            </a:pPr>
            <a:endParaRPr lang="en-IN" sz="22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EF1FACC-B9DD-DBCA-F33C-7B42291DCB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4656" y="2293228"/>
            <a:ext cx="4414379" cy="13482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FDD0E46-B0B0-370B-F541-5EF615C1A5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4853354"/>
            <a:ext cx="3995928" cy="792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6662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4E35B4-8741-E853-1725-3E3D5B573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</a:rPr>
              <a:t>Exploratory Data Analysis (EDA)</a:t>
            </a:r>
            <a:endParaRPr lang="en-IN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E8266E-133C-DDDE-1A00-6DCA90834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2000" b="1"/>
              <a:t>Key Insights:</a:t>
            </a:r>
            <a:endParaRPr lang="en-US" sz="2000"/>
          </a:p>
          <a:p>
            <a:r>
              <a:rPr lang="en-US" sz="2000"/>
              <a:t>Average salary increased steadily from </a:t>
            </a:r>
            <a:r>
              <a:rPr lang="en-US" sz="2000" b="1"/>
              <a:t>$93K (2020)</a:t>
            </a:r>
            <a:r>
              <a:rPr lang="en-US" sz="2000"/>
              <a:t> → </a:t>
            </a:r>
            <a:r>
              <a:rPr lang="en-US" sz="2000" b="1"/>
              <a:t>$157K (2024)</a:t>
            </a:r>
            <a:r>
              <a:rPr lang="en-US" sz="2000"/>
              <a:t>.</a:t>
            </a:r>
          </a:p>
          <a:p>
            <a:r>
              <a:rPr lang="en-US" sz="2000"/>
              <a:t>Small dip in </a:t>
            </a:r>
            <a:r>
              <a:rPr lang="en-US" sz="2000" b="1"/>
              <a:t>2025</a:t>
            </a:r>
            <a:r>
              <a:rPr lang="en-US" sz="2000"/>
              <a:t> due to global normalization (mean $151K).</a:t>
            </a:r>
          </a:p>
          <a:p>
            <a:r>
              <a:rPr lang="en-US" sz="2000" b="1"/>
              <a:t>Remote roles</a:t>
            </a:r>
            <a:r>
              <a:rPr lang="en-US" sz="2000"/>
              <a:t> and </a:t>
            </a:r>
            <a:r>
              <a:rPr lang="en-US" sz="2000" b="1"/>
              <a:t>senior positions</a:t>
            </a:r>
            <a:r>
              <a:rPr lang="en-US" sz="2000"/>
              <a:t> earn the highest pay.</a:t>
            </a:r>
          </a:p>
          <a:p>
            <a:r>
              <a:rPr lang="en-US" sz="2000" b="1"/>
              <a:t>Large companies</a:t>
            </a:r>
            <a:r>
              <a:rPr lang="en-US" sz="2000"/>
              <a:t> pay more on average.</a:t>
            </a:r>
          </a:p>
          <a:p>
            <a:r>
              <a:rPr lang="en-US" sz="2000" b="1"/>
              <a:t>Top roles:</a:t>
            </a:r>
            <a:r>
              <a:rPr lang="en-US" sz="2000"/>
              <a:t> ML Engineer, AI Engineer, Data Architect.</a:t>
            </a:r>
          </a:p>
          <a:p>
            <a:endParaRPr lang="en-IN" sz="2000"/>
          </a:p>
        </p:txBody>
      </p:sp>
    </p:spTree>
    <p:extLst>
      <p:ext uri="{BB962C8B-B14F-4D97-AF65-F5344CB8AC3E}">
        <p14:creationId xmlns:p14="http://schemas.microsoft.com/office/powerpoint/2010/main" val="8739004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D54E3A-0490-3F58-5DBD-C29C5274D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EDA Graphs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C71AAEB-C3A2-D8BF-9112-1AADDDD365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826" r="5566" b="-3"/>
          <a:stretch>
            <a:fillRect/>
          </a:stretch>
        </p:blipFill>
        <p:spPr>
          <a:xfrm>
            <a:off x="715748" y="2460384"/>
            <a:ext cx="5131088" cy="34397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D90E80F-11DE-8066-9015-4DC1B4F86E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38" r="1" b="1"/>
          <a:stretch>
            <a:fillRect/>
          </a:stretch>
        </p:blipFill>
        <p:spPr>
          <a:xfrm>
            <a:off x="6345165" y="2496878"/>
            <a:ext cx="5131087" cy="3439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2572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AC271A-F9B3-DF65-1A0E-2E76574EB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algn="r"/>
            <a:r>
              <a:rPr lang="en-US" sz="7400"/>
              <a:t>More EDA Highlights</a:t>
            </a:r>
            <a:endParaRPr lang="en-IN" sz="740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8DD15F5B-6BE9-1D45-8ECA-A639A741BD6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43072499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042016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D76B95B-2EFF-103C-8A04-D5A929ADC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>
                <a:solidFill>
                  <a:srgbClr val="FFFFFF"/>
                </a:solidFill>
              </a:rPr>
              <a:t>Average Salary by country and Average Remote ratio over time </a:t>
            </a:r>
          </a:p>
        </p:txBody>
      </p:sp>
      <p:pic>
        <p:nvPicPr>
          <p:cNvPr id="5" name="Content Placeholder 4" descr="A graph of a salary&#10;&#10;AI-generated content may be incorrect.">
            <a:extLst>
              <a:ext uri="{FF2B5EF4-FFF2-40B4-BE49-F238E27FC236}">
                <a16:creationId xmlns:a16="http://schemas.microsoft.com/office/drawing/2014/main" id="{DFACB5EF-4A2D-58F9-956C-DB2F827485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5649" b="1"/>
          <a:stretch>
            <a:fillRect/>
          </a:stretch>
        </p:blipFill>
        <p:spPr>
          <a:xfrm>
            <a:off x="715748" y="2460401"/>
            <a:ext cx="5131088" cy="3439686"/>
          </a:xfrm>
          <a:prstGeom prst="rect">
            <a:avLst/>
          </a:prstGeom>
        </p:spPr>
      </p:pic>
      <p:pic>
        <p:nvPicPr>
          <p:cNvPr id="7" name="Picture 6" descr="A graph with a line going up&#10;&#10;AI-generated content may be incorrect.">
            <a:extLst>
              <a:ext uri="{FF2B5EF4-FFF2-40B4-BE49-F238E27FC236}">
                <a16:creationId xmlns:a16="http://schemas.microsoft.com/office/drawing/2014/main" id="{8DD7930D-DA85-4E8E-7C11-73481FC9DD2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717" r="-2" b="59"/>
          <a:stretch>
            <a:fillRect/>
          </a:stretch>
        </p:blipFill>
        <p:spPr>
          <a:xfrm>
            <a:off x="6345165" y="2496879"/>
            <a:ext cx="5131087" cy="3439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3131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95EE1-BECD-E1AC-ED42-BF1DD9010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Modelling Techniques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2F516-ABFC-D5B3-3C69-EC09E646B7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b="1" dirty="0"/>
              <a:t>Target:</a:t>
            </a:r>
            <a:r>
              <a:rPr lang="en-IN" dirty="0"/>
              <a:t> </a:t>
            </a:r>
            <a:r>
              <a:rPr lang="en-IN" dirty="0" err="1"/>
              <a:t>salary_in_usd</a:t>
            </a:r>
            <a:endParaRPr lang="en-IN" dirty="0"/>
          </a:p>
          <a:p>
            <a:r>
              <a:rPr lang="en-IN" b="1" dirty="0"/>
              <a:t>Features:</a:t>
            </a:r>
            <a:r>
              <a:rPr lang="en-IN" dirty="0"/>
              <a:t> year, </a:t>
            </a:r>
            <a:r>
              <a:rPr lang="en-IN" dirty="0" err="1"/>
              <a:t>seniority_level</a:t>
            </a:r>
            <a:r>
              <a:rPr lang="en-IN" dirty="0"/>
              <a:t>, status, </a:t>
            </a:r>
            <a:r>
              <a:rPr lang="en-IN" dirty="0" err="1"/>
              <a:t>job_title</a:t>
            </a:r>
            <a:r>
              <a:rPr lang="en-IN" dirty="0"/>
              <a:t>, </a:t>
            </a:r>
            <a:r>
              <a:rPr lang="en-IN" dirty="0" err="1"/>
              <a:t>company_size</a:t>
            </a:r>
            <a:r>
              <a:rPr lang="en-IN" dirty="0"/>
              <a:t>, </a:t>
            </a:r>
            <a:r>
              <a:rPr lang="en-IN" dirty="0" err="1"/>
              <a:t>work_setting</a:t>
            </a:r>
            <a:r>
              <a:rPr lang="en-IN" dirty="0"/>
              <a:t>, </a:t>
            </a:r>
            <a:r>
              <a:rPr lang="en-IN" dirty="0" err="1"/>
              <a:t>employee_residence</a:t>
            </a:r>
            <a:r>
              <a:rPr lang="en-IN" dirty="0"/>
              <a:t>.</a:t>
            </a:r>
          </a:p>
          <a:p>
            <a:pPr marL="0" indent="0">
              <a:buNone/>
            </a:pPr>
            <a:r>
              <a:rPr lang="en-IN" b="1" dirty="0"/>
              <a:t>Models Used:</a:t>
            </a:r>
            <a:endParaRPr lang="en-IN" dirty="0"/>
          </a:p>
          <a:p>
            <a:r>
              <a:rPr lang="en-IN" b="1" dirty="0"/>
              <a:t>Regularized Linear Models:</a:t>
            </a:r>
            <a:r>
              <a:rPr lang="en-IN" dirty="0"/>
              <a:t> Ridge, Lasso, </a:t>
            </a:r>
            <a:r>
              <a:rPr lang="en-IN" dirty="0" err="1"/>
              <a:t>ElasticNet</a:t>
            </a:r>
            <a:endParaRPr lang="en-IN" dirty="0"/>
          </a:p>
          <a:p>
            <a:r>
              <a:rPr lang="en-IN" b="1" dirty="0"/>
              <a:t>Non-Linear Models:</a:t>
            </a:r>
            <a:r>
              <a:rPr lang="en-IN" dirty="0"/>
              <a:t> Random Forest, </a:t>
            </a:r>
            <a:r>
              <a:rPr lang="en-IN" dirty="0" err="1"/>
              <a:t>XGBoost</a:t>
            </a:r>
            <a:endParaRPr lang="en-IN" dirty="0"/>
          </a:p>
          <a:p>
            <a:pPr marL="0" indent="0">
              <a:buNone/>
            </a:pPr>
            <a:r>
              <a:rPr lang="en-IN" b="1" dirty="0"/>
              <a:t>Pipeline:</a:t>
            </a:r>
            <a:endParaRPr lang="en-IN" dirty="0"/>
          </a:p>
          <a:p>
            <a:r>
              <a:rPr lang="en-IN" dirty="0"/>
              <a:t>One-Hot Encoding (categorical)</a:t>
            </a:r>
          </a:p>
          <a:p>
            <a:r>
              <a:rPr lang="en-IN" dirty="0"/>
              <a:t>Standard Scaling (numeric)</a:t>
            </a:r>
          </a:p>
          <a:p>
            <a:r>
              <a:rPr lang="en-IN" dirty="0"/>
              <a:t>80-20 Train/Test Split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04453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F37C3B-C3B2-B655-8D66-178D1A507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Model Results (before Hyper parameter Tuning)</a:t>
            </a:r>
          </a:p>
        </p:txBody>
      </p:sp>
      <p:pic>
        <p:nvPicPr>
          <p:cNvPr id="5" name="Content Placeholder 4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9A9B0575-68CA-BB64-1A9A-A557771C36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225" y="2043273"/>
            <a:ext cx="11327549" cy="42981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38248DE-7DBC-D173-F07B-28A53CA36253}"/>
              </a:ext>
            </a:extLst>
          </p:cNvPr>
          <p:cNvSpPr/>
          <p:nvPr/>
        </p:nvSpPr>
        <p:spPr>
          <a:xfrm>
            <a:off x="1366576" y="3854244"/>
            <a:ext cx="9907675" cy="140601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24106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9D47016-023F-44BD-981C-50E7A10A6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335ED8-AA61-31D2-F307-9690798C6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457200"/>
            <a:ext cx="4343400" cy="1929384"/>
          </a:xfrm>
        </p:spPr>
        <p:txBody>
          <a:bodyPr anchor="ctr">
            <a:normAutofit/>
          </a:bodyPr>
          <a:lstStyle/>
          <a:p>
            <a:r>
              <a:rPr lang="en-US" dirty="0"/>
              <a:t>Feature Importance </a:t>
            </a:r>
            <a:r>
              <a:rPr lang="en-US"/>
              <a:t>Comparision</a:t>
            </a:r>
            <a:endParaRPr lang="en-IN" dirty="0"/>
          </a:p>
        </p:txBody>
      </p:sp>
      <p:sp>
        <p:nvSpPr>
          <p:cNvPr id="14" name="sketchy line">
            <a:extLst>
              <a:ext uri="{FF2B5EF4-FFF2-40B4-BE49-F238E27FC236}">
                <a16:creationId xmlns:a16="http://schemas.microsoft.com/office/drawing/2014/main" id="{6D8B37B0-0682-433E-BC8D-498C04ABD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471415" y="1412748"/>
            <a:ext cx="1554480" cy="18288"/>
          </a:xfrm>
          <a:custGeom>
            <a:avLst/>
            <a:gdLst>
              <a:gd name="connsiteX0" fmla="*/ 0 w 1554480"/>
              <a:gd name="connsiteY0" fmla="*/ 0 h 18288"/>
              <a:gd name="connsiteX1" fmla="*/ 549250 w 1554480"/>
              <a:gd name="connsiteY1" fmla="*/ 0 h 18288"/>
              <a:gd name="connsiteX2" fmla="*/ 1082954 w 1554480"/>
              <a:gd name="connsiteY2" fmla="*/ 0 h 18288"/>
              <a:gd name="connsiteX3" fmla="*/ 1554480 w 1554480"/>
              <a:gd name="connsiteY3" fmla="*/ 0 h 18288"/>
              <a:gd name="connsiteX4" fmla="*/ 1554480 w 1554480"/>
              <a:gd name="connsiteY4" fmla="*/ 18288 h 18288"/>
              <a:gd name="connsiteX5" fmla="*/ 1067410 w 1554480"/>
              <a:gd name="connsiteY5" fmla="*/ 18288 h 18288"/>
              <a:gd name="connsiteX6" fmla="*/ 549250 w 1554480"/>
              <a:gd name="connsiteY6" fmla="*/ 18288 h 18288"/>
              <a:gd name="connsiteX7" fmla="*/ 0 w 1554480"/>
              <a:gd name="connsiteY7" fmla="*/ 18288 h 18288"/>
              <a:gd name="connsiteX8" fmla="*/ 0 w 1554480"/>
              <a:gd name="connsiteY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E302DE-1814-C3E1-F94A-B0A274A04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1263" y="457200"/>
            <a:ext cx="6007608" cy="1929384"/>
          </a:xfrm>
        </p:spPr>
        <p:txBody>
          <a:bodyPr anchor="ctr">
            <a:normAutofit/>
          </a:bodyPr>
          <a:lstStyle/>
          <a:p>
            <a:r>
              <a:rPr lang="en-US" sz="1900" b="1" dirty="0"/>
              <a:t>Linear (Lasso):</a:t>
            </a:r>
          </a:p>
          <a:p>
            <a:pPr lvl="1"/>
            <a:r>
              <a:rPr lang="en-US" sz="1900" dirty="0"/>
              <a:t>Strongest salary drivers: </a:t>
            </a:r>
            <a:r>
              <a:rPr lang="en-US" sz="1900" dirty="0" err="1"/>
              <a:t>Seniority_Level</a:t>
            </a:r>
            <a:r>
              <a:rPr lang="en-US" sz="1900" dirty="0"/>
              <a:t>, </a:t>
            </a:r>
            <a:r>
              <a:rPr lang="en-US" sz="1900" dirty="0" err="1"/>
              <a:t>Company_Size</a:t>
            </a:r>
            <a:r>
              <a:rPr lang="en-US" sz="1900" dirty="0"/>
              <a:t>, Year.</a:t>
            </a:r>
          </a:p>
          <a:p>
            <a:r>
              <a:rPr lang="en-US" sz="1900" b="1" dirty="0"/>
              <a:t>Non-Linear (</a:t>
            </a:r>
            <a:r>
              <a:rPr lang="en-US" sz="1900" b="1" dirty="0" err="1"/>
              <a:t>XGBoost</a:t>
            </a:r>
            <a:r>
              <a:rPr lang="en-US" sz="1900" b="1" dirty="0"/>
              <a:t>):</a:t>
            </a:r>
          </a:p>
          <a:p>
            <a:pPr lvl="1"/>
            <a:r>
              <a:rPr lang="en-US" sz="1900" dirty="0"/>
              <a:t>Key interactions: </a:t>
            </a:r>
            <a:r>
              <a:rPr lang="en-US" sz="1900" dirty="0" err="1"/>
              <a:t>Job_Title</a:t>
            </a:r>
            <a:r>
              <a:rPr lang="en-US" sz="1900" dirty="0"/>
              <a:t> × Year, </a:t>
            </a:r>
            <a:r>
              <a:rPr lang="en-US" sz="1900" dirty="0" err="1"/>
              <a:t>Work_Setting</a:t>
            </a:r>
            <a:r>
              <a:rPr lang="en-US" sz="1900" dirty="0"/>
              <a:t> × Location, </a:t>
            </a:r>
            <a:r>
              <a:rPr lang="en-US" sz="1900" dirty="0" err="1"/>
              <a:t>Seniority_Level</a:t>
            </a:r>
            <a:r>
              <a:rPr lang="en-US" sz="1900" dirty="0"/>
              <a:t>.</a:t>
            </a:r>
          </a:p>
          <a:p>
            <a:pPr marL="0" indent="0">
              <a:buNone/>
            </a:pPr>
            <a:endParaRPr lang="en-US" sz="1900" dirty="0"/>
          </a:p>
          <a:p>
            <a:endParaRPr lang="en-IN" sz="19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3C7EA4-EF80-EA5C-D559-C11385B4C9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3589" y="2749219"/>
            <a:ext cx="5468112" cy="31988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4388710-2DF1-325D-0E65-F0E1BB46F7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739" y="2749219"/>
            <a:ext cx="5468112" cy="3130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9830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083EE2-2731-285E-5604-BEF86B1D1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</a:rPr>
              <a:t>Insights &amp; Interpretation</a:t>
            </a:r>
            <a:endParaRPr lang="en-IN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D790F4C-3282-C2EF-8817-02A21C6FC4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68616131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075983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4B58071-CDCD-6554-E794-8AF4E4B7270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6065AD-82FA-4591-AAD9-00FE16D1D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Next Steps</a:t>
            </a:r>
            <a:endParaRPr lang="en-IN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B9C8F86-88AA-8231-7F62-686BB850B9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4415681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988144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C37D9B3-C1E8-CAA9-90F3-7BF9FA7F4FC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2308" r="9091" b="21084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7B2CE8-07CB-B4DD-291D-07BB4896C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References</a:t>
            </a:r>
            <a:endParaRPr lang="en-IN" dirty="0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08E4D941-033E-4A87-1819-B68A5A1DDC7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6319233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2387141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43D3FD-8DAC-3545-740C-64F5C8819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662" y="4267832"/>
            <a:ext cx="4805996" cy="12971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pic>
        <p:nvPicPr>
          <p:cNvPr id="6" name="Graphic 5" descr="Smiling Face with No Fill">
            <a:extLst>
              <a:ext uri="{FF2B5EF4-FFF2-40B4-BE49-F238E27FC236}">
                <a16:creationId xmlns:a16="http://schemas.microsoft.com/office/drawing/2014/main" id="{68A16BD4-1818-6BCC-C9B7-33D32DBB98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6334697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633</Words>
  <Application>Microsoft Office PowerPoint</Application>
  <PresentationFormat>Widescreen</PresentationFormat>
  <Paragraphs>68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How Salary Drivers in Data Science Evolved Between 2020–2025: A Comparative Study of Regularized and Non-Linear Models</vt:lpstr>
      <vt:lpstr>Research Objective</vt:lpstr>
      <vt:lpstr>Dataset Used:</vt:lpstr>
      <vt:lpstr>Slide 4 – Data Cleaning &amp; Preprocessing</vt:lpstr>
      <vt:lpstr>Exploratory Data Analysis (EDA)</vt:lpstr>
      <vt:lpstr>EDA Graphs</vt:lpstr>
      <vt:lpstr>More EDA Highlights</vt:lpstr>
      <vt:lpstr>Average Salary by country and Average Remote ratio over time </vt:lpstr>
      <vt:lpstr>Modelling Techniques</vt:lpstr>
      <vt:lpstr>Model Results (before Hyper parameter Tuning)</vt:lpstr>
      <vt:lpstr>Feature Importance Comparision</vt:lpstr>
      <vt:lpstr>Insights &amp; Interpretation</vt:lpstr>
      <vt:lpstr>Next Steps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Revanth Kumar Sagala</dc:creator>
  <cp:lastModifiedBy>Revanth Kumar Sagala</cp:lastModifiedBy>
  <cp:revision>1</cp:revision>
  <dcterms:created xsi:type="dcterms:W3CDTF">2025-11-24T11:59:25Z</dcterms:created>
  <dcterms:modified xsi:type="dcterms:W3CDTF">2025-11-24T13:37:24Z</dcterms:modified>
</cp:coreProperties>
</file>